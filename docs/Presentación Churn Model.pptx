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782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3D3D"/>
        </a:solidFill>
        <a:effectLst/>
      </p:bgPr>
    </p:bg>
    <p:spTree>
      <p:nvGrpSpPr>
        <p:cNvPr id="1" name=""/>
        <p:cNvGrpSpPr/>
        <p:nvPr/>
      </p:nvGrpSpPr>
      <p:grpSpPr>
        <a:xfrm>
          <a:off x="0" y="0"/>
          <a:ext cx="0" cy="0"/>
          <a:chOff x="0" y="0"/>
          <a:chExt cx="0" cy="0"/>
        </a:xfrm>
      </p:grpSpPr>
      <p:sp>
        <p:nvSpPr>
          <p:cNvPr id="2" name="Text 0"/>
          <p:cNvSpPr/>
          <p:nvPr/>
        </p:nvSpPr>
        <p:spPr>
          <a:xfrm>
            <a:off x="731520" y="2468880"/>
            <a:ext cx="1069848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Modelo de Predicción de Churn</a:t>
            </a:r>
            <a:endParaRPr lang="en-US" sz="4400" dirty="0"/>
          </a:p>
        </p:txBody>
      </p:sp>
      <p:sp>
        <p:nvSpPr>
          <p:cNvPr id="3" name="Text 1"/>
          <p:cNvSpPr/>
          <p:nvPr/>
        </p:nvSpPr>
        <p:spPr>
          <a:xfrm>
            <a:off x="1097280" y="3429000"/>
            <a:ext cx="9966960" cy="548640"/>
          </a:xfrm>
          <a:prstGeom prst="rect">
            <a:avLst/>
          </a:prstGeom>
          <a:noFill/>
          <a:ln/>
        </p:spPr>
        <p:txBody>
          <a:bodyPr wrap="square" lIns="0" tIns="0" rIns="0" bIns="0" rtlCol="0" anchor="ctr"/>
          <a:lstStyle/>
          <a:p>
            <a:pPr marL="0" indent="0" algn="ctr">
              <a:buNone/>
            </a:pPr>
            <a:r>
              <a:rPr lang="en-US" sz="1800" b="1" dirty="0">
                <a:solidFill>
                  <a:srgbClr val="4FB64B"/>
                </a:solidFill>
                <a:latin typeface="Calibri" pitchFamily="34" charset="0"/>
                <a:ea typeface="Calibri" pitchFamily="34" charset="-122"/>
                <a:cs typeface="Calibri" pitchFamily="34" charset="-120"/>
              </a:rPr>
              <a:t>Anticipar la fuga de clientes para priorizar acciones de retención</a:t>
            </a:r>
            <a:endParaRPr lang="en-US" sz="1800" dirty="0"/>
          </a:p>
        </p:txBody>
      </p:sp>
      <p:sp>
        <p:nvSpPr>
          <p:cNvPr id="4" name="Text 2"/>
          <p:cNvSpPr/>
          <p:nvPr/>
        </p:nvSpPr>
        <p:spPr>
          <a:xfrm>
            <a:off x="1371600" y="4343400"/>
            <a:ext cx="9418320" cy="457200"/>
          </a:xfrm>
          <a:prstGeom prst="rect">
            <a:avLst/>
          </a:prstGeom>
          <a:noFill/>
          <a:ln/>
        </p:spPr>
        <p:txBody>
          <a:bodyPr wrap="square" lIns="0" tIns="0" rIns="0" bIns="0" rtlCol="0" anchor="ctr"/>
          <a:lstStyle/>
          <a:p>
            <a:pPr marL="0" indent="0" algn="ctr">
              <a:buNone/>
            </a:pPr>
            <a:r>
              <a:rPr lang="en-US" sz="1200" kern="0" spc="200" dirty="0">
                <a:solidFill>
                  <a:srgbClr val="AFAFAF"/>
                </a:solidFill>
                <a:latin typeface="Calibri" pitchFamily="34" charset="0"/>
                <a:ea typeface="Calibri" pitchFamily="34" charset="-122"/>
                <a:cs typeface="Calibri" pitchFamily="34" charset="-120"/>
              </a:rPr>
              <a:t>PRUEBA TÉCNICA | JUAN FELIPE LOZANO PARDO  |  ANALISTA JR. DE CIENCIA DE DATOS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66928"/>
          </a:xfrm>
          <a:prstGeom prst="rect">
            <a:avLst/>
          </a:prstGeom>
          <a:solidFill>
            <a:srgbClr val="4FB64B"/>
          </a:solidFill>
          <a:ln/>
        </p:spPr>
      </p:sp>
      <p:sp>
        <p:nvSpPr>
          <p:cNvPr id="3" name="Text 1"/>
          <p:cNvSpPr/>
          <p:nvPr/>
        </p:nvSpPr>
        <p:spPr>
          <a:xfrm>
            <a:off x="320040" y="320040"/>
            <a:ext cx="8686800" cy="594360"/>
          </a:xfrm>
          <a:prstGeom prst="rect">
            <a:avLst/>
          </a:prstGeom>
          <a:noFill/>
          <a:ln/>
        </p:spPr>
        <p:txBody>
          <a:bodyPr wrap="square" lIns="0" tIns="0" rIns="0" bIns="0" rtlCol="0" anchor="ctr"/>
          <a:lstStyle/>
          <a:p>
            <a:pPr marL="0" indent="0">
              <a:buNone/>
            </a:pPr>
            <a:r>
              <a:rPr lang="en-US" sz="3000" b="1" dirty="0">
                <a:solidFill>
                  <a:srgbClr val="2B2B2B"/>
                </a:solidFill>
                <a:latin typeface="Arial" pitchFamily="34" charset="0"/>
                <a:ea typeface="Arial" pitchFamily="34" charset="-122"/>
                <a:cs typeface="Arial" pitchFamily="34" charset="-120"/>
              </a:rPr>
              <a:t>Problema de Negocio y Objetivo</a:t>
            </a:r>
            <a:endParaRPr lang="en-US" sz="3000" dirty="0"/>
          </a:p>
        </p:txBody>
      </p:sp>
      <p:sp>
        <p:nvSpPr>
          <p:cNvPr id="4" name="Text 2"/>
          <p:cNvSpPr/>
          <p:nvPr/>
        </p:nvSpPr>
        <p:spPr>
          <a:xfrm>
            <a:off x="10728655" y="320040"/>
            <a:ext cx="1097280" cy="365760"/>
          </a:xfrm>
          <a:prstGeom prst="rect">
            <a:avLst/>
          </a:prstGeom>
          <a:noFill/>
          <a:ln/>
        </p:spPr>
        <p:txBody>
          <a:bodyPr wrap="square" lIns="0" tIns="0" rIns="0" bIns="0" rtlCol="0" anchor="ctr"/>
          <a:lstStyle/>
          <a:p>
            <a:pPr marL="0" indent="0" algn="r">
              <a:buNone/>
            </a:pPr>
            <a:r>
              <a:rPr lang="en-US" sz="1200" dirty="0">
                <a:solidFill>
                  <a:srgbClr val="9A9A9A"/>
                </a:solidFill>
                <a:latin typeface="Calibri" pitchFamily="34" charset="0"/>
                <a:ea typeface="Calibri" pitchFamily="34" charset="-122"/>
                <a:cs typeface="Calibri" pitchFamily="34" charset="-120"/>
              </a:rPr>
              <a:t>02 / 08</a:t>
            </a:r>
            <a:endParaRPr lang="en-US" sz="1200" dirty="0"/>
          </a:p>
        </p:txBody>
      </p:sp>
      <p:sp>
        <p:nvSpPr>
          <p:cNvPr id="5" name="Shape 3"/>
          <p:cNvSpPr/>
          <p:nvPr/>
        </p:nvSpPr>
        <p:spPr>
          <a:xfrm>
            <a:off x="548640" y="1280160"/>
            <a:ext cx="5349240" cy="2468880"/>
          </a:xfrm>
          <a:prstGeom prst="roundRect">
            <a:avLst>
              <a:gd name="adj" fmla="val 2963"/>
            </a:avLst>
          </a:prstGeom>
          <a:solidFill>
            <a:srgbClr val="F5F5F5"/>
          </a:solidFill>
          <a:ln/>
          <a:effectLst>
            <a:outerShdw blurRad="101600" dist="38100" dir="2700000" algn="bl" rotWithShape="0">
              <a:srgbClr val="000000">
                <a:alpha val="12000"/>
              </a:srgbClr>
            </a:outerShdw>
          </a:effectLst>
        </p:spPr>
      </p:sp>
      <p:pic>
        <p:nvPicPr>
          <p:cNvPr id="6" name="Image 0" descr="icons2/warning.png"/>
          <p:cNvPicPr>
            <a:picLocks noChangeAspect="1"/>
          </p:cNvPicPr>
          <p:nvPr/>
        </p:nvPicPr>
        <p:blipFill>
          <a:blip r:embed="rId3"/>
          <a:stretch>
            <a:fillRect/>
          </a:stretch>
        </p:blipFill>
        <p:spPr>
          <a:xfrm>
            <a:off x="868680" y="1600200"/>
            <a:ext cx="457200" cy="457200"/>
          </a:xfrm>
          <a:prstGeom prst="rect">
            <a:avLst/>
          </a:prstGeom>
        </p:spPr>
      </p:pic>
      <p:sp>
        <p:nvSpPr>
          <p:cNvPr id="7" name="Text 4"/>
          <p:cNvSpPr/>
          <p:nvPr/>
        </p:nvSpPr>
        <p:spPr>
          <a:xfrm>
            <a:off x="1463040" y="1627632"/>
            <a:ext cx="4206240" cy="411480"/>
          </a:xfrm>
          <a:prstGeom prst="rect">
            <a:avLst/>
          </a:prstGeom>
          <a:noFill/>
          <a:ln/>
        </p:spPr>
        <p:txBody>
          <a:bodyPr wrap="square" lIns="0" tIns="0" rIns="0" bIns="0" rtlCol="0" anchor="ctr"/>
          <a:lstStyle/>
          <a:p>
            <a:pPr marL="0" indent="0">
              <a:buNone/>
            </a:pPr>
            <a:r>
              <a:rPr lang="en-US" sz="1800" b="1" dirty="0">
                <a:solidFill>
                  <a:srgbClr val="2B2B2B"/>
                </a:solidFill>
                <a:latin typeface="Arial" pitchFamily="34" charset="0"/>
                <a:ea typeface="Arial" pitchFamily="34" charset="-122"/>
                <a:cs typeface="Arial" pitchFamily="34" charset="-120"/>
              </a:rPr>
              <a:t>El Problema</a:t>
            </a:r>
            <a:endParaRPr lang="en-US" sz="1800" dirty="0"/>
          </a:p>
        </p:txBody>
      </p:sp>
      <p:sp>
        <p:nvSpPr>
          <p:cNvPr id="8" name="Text 5"/>
          <p:cNvSpPr/>
          <p:nvPr/>
        </p:nvSpPr>
        <p:spPr>
          <a:xfrm>
            <a:off x="868680" y="2240280"/>
            <a:ext cx="4709160" cy="1371600"/>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El área comercial no puede anticipar qué clientes abandonarán la compañía. Sin predicción, las acciones de retención llegan tarde o se dirigen al segmento equivocado.</a:t>
            </a:r>
            <a:endParaRPr lang="en-US" sz="1400" dirty="0"/>
          </a:p>
        </p:txBody>
      </p:sp>
      <p:sp>
        <p:nvSpPr>
          <p:cNvPr id="9" name="Shape 6"/>
          <p:cNvSpPr/>
          <p:nvPr/>
        </p:nvSpPr>
        <p:spPr>
          <a:xfrm>
            <a:off x="6263640" y="1280160"/>
            <a:ext cx="5349240" cy="2468880"/>
          </a:xfrm>
          <a:prstGeom prst="roundRect">
            <a:avLst>
              <a:gd name="adj" fmla="val 2963"/>
            </a:avLst>
          </a:prstGeom>
          <a:solidFill>
            <a:srgbClr val="F5F5F5"/>
          </a:solidFill>
          <a:ln/>
          <a:effectLst>
            <a:outerShdw blurRad="101600" dist="38100" dir="2700000" algn="bl" rotWithShape="0">
              <a:srgbClr val="000000">
                <a:alpha val="12000"/>
              </a:srgbClr>
            </a:outerShdw>
          </a:effectLst>
        </p:spPr>
      </p:sp>
      <p:pic>
        <p:nvPicPr>
          <p:cNvPr id="10" name="Image 1" descr="icons2/dollar.png"/>
          <p:cNvPicPr>
            <a:picLocks noChangeAspect="1"/>
          </p:cNvPicPr>
          <p:nvPr/>
        </p:nvPicPr>
        <p:blipFill>
          <a:blip r:embed="rId4"/>
          <a:stretch>
            <a:fillRect/>
          </a:stretch>
        </p:blipFill>
        <p:spPr>
          <a:xfrm>
            <a:off x="6677758" y="1600200"/>
            <a:ext cx="269045" cy="457200"/>
          </a:xfrm>
          <a:prstGeom prst="rect">
            <a:avLst/>
          </a:prstGeom>
        </p:spPr>
      </p:pic>
      <p:sp>
        <p:nvSpPr>
          <p:cNvPr id="11" name="Text 7"/>
          <p:cNvSpPr/>
          <p:nvPr/>
        </p:nvSpPr>
        <p:spPr>
          <a:xfrm>
            <a:off x="7178040" y="1627632"/>
            <a:ext cx="4206240" cy="411480"/>
          </a:xfrm>
          <a:prstGeom prst="rect">
            <a:avLst/>
          </a:prstGeom>
          <a:noFill/>
          <a:ln/>
        </p:spPr>
        <p:txBody>
          <a:bodyPr wrap="square" lIns="0" tIns="0" rIns="0" bIns="0" rtlCol="0" anchor="ctr"/>
          <a:lstStyle/>
          <a:p>
            <a:pPr marL="0" indent="0">
              <a:buNone/>
            </a:pPr>
            <a:r>
              <a:rPr lang="en-US" sz="1800" b="1" dirty="0">
                <a:solidFill>
                  <a:srgbClr val="2B2B2B"/>
                </a:solidFill>
                <a:latin typeface="Arial" pitchFamily="34" charset="0"/>
                <a:ea typeface="Arial" pitchFamily="34" charset="-122"/>
                <a:cs typeface="Arial" pitchFamily="34" charset="-120"/>
              </a:rPr>
              <a:t>El Costo de Retención</a:t>
            </a:r>
            <a:endParaRPr lang="en-US" sz="1800" dirty="0"/>
          </a:p>
        </p:txBody>
      </p:sp>
      <p:sp>
        <p:nvSpPr>
          <p:cNvPr id="12" name="Text 8"/>
          <p:cNvSpPr/>
          <p:nvPr/>
        </p:nvSpPr>
        <p:spPr>
          <a:xfrm>
            <a:off x="6583680" y="2240280"/>
            <a:ext cx="4709160" cy="8229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Adquirir cliente nuevo: </a:t>
            </a:r>
            <a:r>
              <a:rPr lang="en-US" sz="1400" b="1" dirty="0">
                <a:solidFill>
                  <a:srgbClr val="E6493C"/>
                </a:solidFill>
                <a:latin typeface="Calibri" pitchFamily="34" charset="0"/>
                <a:ea typeface="Calibri" pitchFamily="34" charset="-122"/>
                <a:cs typeface="Calibri" pitchFamily="34" charset="-120"/>
              </a:rPr>
              <a:t>$500 USD</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Retener cliente actual: </a:t>
            </a:r>
            <a:r>
              <a:rPr lang="en-US" sz="1400" b="1" dirty="0">
                <a:solidFill>
                  <a:srgbClr val="4FB64B"/>
                </a:solidFill>
                <a:latin typeface="Calibri" pitchFamily="34" charset="0"/>
                <a:ea typeface="Calibri" pitchFamily="34" charset="-122"/>
                <a:cs typeface="Calibri" pitchFamily="34" charset="-120"/>
              </a:rPr>
              <a:t>$80 USD</a:t>
            </a:r>
            <a:endParaRPr lang="en-US" sz="1400" dirty="0"/>
          </a:p>
        </p:txBody>
      </p:sp>
      <p:sp>
        <p:nvSpPr>
          <p:cNvPr id="13" name="Text 9"/>
          <p:cNvSpPr/>
          <p:nvPr/>
        </p:nvSpPr>
        <p:spPr>
          <a:xfrm>
            <a:off x="6583680" y="3108960"/>
            <a:ext cx="4709160" cy="457200"/>
          </a:xfrm>
          <a:prstGeom prst="rect">
            <a:avLst/>
          </a:prstGeom>
          <a:noFill/>
          <a:ln/>
        </p:spPr>
        <p:txBody>
          <a:bodyPr wrap="square" lIns="0" tIns="0" rIns="0" bIns="0"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Retener es 6x más barato que reemplazar estratégicamente.</a:t>
            </a:r>
            <a:endParaRPr lang="en-US" sz="1200" dirty="0"/>
          </a:p>
        </p:txBody>
      </p:sp>
      <p:sp>
        <p:nvSpPr>
          <p:cNvPr id="14" name="Shape 10"/>
          <p:cNvSpPr/>
          <p:nvPr/>
        </p:nvSpPr>
        <p:spPr>
          <a:xfrm>
            <a:off x="548640" y="3977640"/>
            <a:ext cx="11064240" cy="1417320"/>
          </a:xfrm>
          <a:prstGeom prst="roundRect">
            <a:avLst>
              <a:gd name="adj" fmla="val 5161"/>
            </a:avLst>
          </a:prstGeom>
          <a:solidFill>
            <a:srgbClr val="E9F3E8"/>
          </a:solidFill>
          <a:ln/>
        </p:spPr>
      </p:sp>
      <p:sp>
        <p:nvSpPr>
          <p:cNvPr id="15" name="Text 11"/>
          <p:cNvSpPr/>
          <p:nvPr/>
        </p:nvSpPr>
        <p:spPr>
          <a:xfrm>
            <a:off x="868680" y="4114800"/>
            <a:ext cx="10424160" cy="365760"/>
          </a:xfrm>
          <a:prstGeom prst="rect">
            <a:avLst/>
          </a:prstGeom>
          <a:noFill/>
          <a:ln/>
        </p:spPr>
        <p:txBody>
          <a:bodyPr wrap="square" lIns="0" tIns="0" rIns="0" bIns="0" rtlCol="0" anchor="ctr"/>
          <a:lstStyle/>
          <a:p>
            <a:pPr marL="0" indent="0">
              <a:buNone/>
            </a:pPr>
            <a:r>
              <a:rPr lang="en-US" sz="1600" b="1" dirty="0">
                <a:solidFill>
                  <a:srgbClr val="4FB64B"/>
                </a:solidFill>
                <a:latin typeface="Arial" pitchFamily="34" charset="0"/>
                <a:ea typeface="Arial" pitchFamily="34" charset="-122"/>
                <a:cs typeface="Arial" pitchFamily="34" charset="-120"/>
              </a:rPr>
              <a:t>Objetivo del Proyecto</a:t>
            </a:r>
            <a:endParaRPr lang="en-US" sz="1600" dirty="0"/>
          </a:p>
        </p:txBody>
      </p:sp>
      <p:sp>
        <p:nvSpPr>
          <p:cNvPr id="16" name="Text 12"/>
          <p:cNvSpPr/>
          <p:nvPr/>
        </p:nvSpPr>
        <p:spPr>
          <a:xfrm>
            <a:off x="868680" y="4526280"/>
            <a:ext cx="10424160" cy="777240"/>
          </a:xfrm>
          <a:prstGeom prst="rect">
            <a:avLst/>
          </a:prstGeom>
          <a:noFill/>
          <a:ln/>
        </p:spPr>
        <p:txBody>
          <a:bodyPr wrap="square" lIns="0" tIns="0" rIns="0" bIns="0" rtlCol="0" anchor="ctr"/>
          <a:lstStyle/>
          <a:p>
            <a:pPr marL="0" indent="0">
              <a:buNone/>
            </a:pPr>
            <a:r>
              <a:rPr lang="en-US" sz="1400" dirty="0">
                <a:solidFill>
                  <a:srgbClr val="225C38"/>
                </a:solidFill>
                <a:latin typeface="Calibri" pitchFamily="34" charset="0"/>
                <a:ea typeface="Calibri" pitchFamily="34" charset="-122"/>
                <a:cs typeface="Calibri" pitchFamily="34" charset="-120"/>
              </a:rPr>
              <a:t>Construir un modelo que prediga la probabilidad de fuga de cada cliente para que el equipo comercial priorice acciones de retención sobre los segmentos de mayor riesgo comercial.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66928"/>
          </a:xfrm>
          <a:prstGeom prst="rect">
            <a:avLst/>
          </a:prstGeom>
          <a:solidFill>
            <a:srgbClr val="4FB64B"/>
          </a:solidFill>
          <a:ln/>
        </p:spPr>
      </p:sp>
      <p:sp>
        <p:nvSpPr>
          <p:cNvPr id="3" name="Text 1"/>
          <p:cNvSpPr/>
          <p:nvPr/>
        </p:nvSpPr>
        <p:spPr>
          <a:xfrm>
            <a:off x="320040" y="320040"/>
            <a:ext cx="8686800" cy="594360"/>
          </a:xfrm>
          <a:prstGeom prst="rect">
            <a:avLst/>
          </a:prstGeom>
          <a:noFill/>
          <a:ln/>
        </p:spPr>
        <p:txBody>
          <a:bodyPr wrap="square" lIns="0" tIns="0" rIns="0" bIns="0" rtlCol="0" anchor="ctr"/>
          <a:lstStyle/>
          <a:p>
            <a:pPr marL="0" indent="0">
              <a:buNone/>
            </a:pPr>
            <a:r>
              <a:rPr lang="en-US" sz="3000" b="1" dirty="0">
                <a:solidFill>
                  <a:srgbClr val="2B2B2B"/>
                </a:solidFill>
                <a:latin typeface="Arial" pitchFamily="34" charset="0"/>
                <a:ea typeface="Arial" pitchFamily="34" charset="-122"/>
                <a:cs typeface="Arial" pitchFamily="34" charset="-120"/>
              </a:rPr>
              <a:t>Datos, Supuestos y Limitaciones</a:t>
            </a:r>
            <a:endParaRPr lang="en-US" sz="3000" dirty="0"/>
          </a:p>
        </p:txBody>
      </p:sp>
      <p:sp>
        <p:nvSpPr>
          <p:cNvPr id="4" name="Text 2"/>
          <p:cNvSpPr/>
          <p:nvPr/>
        </p:nvSpPr>
        <p:spPr>
          <a:xfrm>
            <a:off x="10728655" y="320040"/>
            <a:ext cx="1097280" cy="365760"/>
          </a:xfrm>
          <a:prstGeom prst="rect">
            <a:avLst/>
          </a:prstGeom>
          <a:noFill/>
          <a:ln/>
        </p:spPr>
        <p:txBody>
          <a:bodyPr wrap="square" lIns="0" tIns="0" rIns="0" bIns="0" rtlCol="0" anchor="ctr"/>
          <a:lstStyle/>
          <a:p>
            <a:pPr marL="0" indent="0" algn="r">
              <a:buNone/>
            </a:pPr>
            <a:r>
              <a:rPr lang="en-US" sz="1200" dirty="0">
                <a:solidFill>
                  <a:srgbClr val="9A9A9A"/>
                </a:solidFill>
                <a:latin typeface="Calibri" pitchFamily="34" charset="0"/>
                <a:ea typeface="Calibri" pitchFamily="34" charset="-122"/>
                <a:cs typeface="Calibri" pitchFamily="34" charset="-120"/>
              </a:rPr>
              <a:t>03 / 08</a:t>
            </a:r>
            <a:endParaRPr lang="en-US" sz="1200" dirty="0"/>
          </a:p>
        </p:txBody>
      </p:sp>
      <p:sp>
        <p:nvSpPr>
          <p:cNvPr id="5" name="Shape 3"/>
          <p:cNvSpPr/>
          <p:nvPr/>
        </p:nvSpPr>
        <p:spPr>
          <a:xfrm>
            <a:off x="548640" y="1371600"/>
            <a:ext cx="2606040" cy="1371600"/>
          </a:xfrm>
          <a:prstGeom prst="roundRect">
            <a:avLst>
              <a:gd name="adj" fmla="val 5333"/>
            </a:avLst>
          </a:prstGeom>
          <a:solidFill>
            <a:srgbClr val="F5F5F5"/>
          </a:solidFill>
          <a:ln/>
          <a:effectLst>
            <a:outerShdw blurRad="101600" dist="38100" dir="2700000" algn="bl" rotWithShape="0">
              <a:srgbClr val="000000">
                <a:alpha val="12000"/>
              </a:srgbClr>
            </a:outerShdw>
          </a:effectLst>
        </p:spPr>
      </p:sp>
      <p:sp>
        <p:nvSpPr>
          <p:cNvPr id="6" name="Shape 4"/>
          <p:cNvSpPr/>
          <p:nvPr/>
        </p:nvSpPr>
        <p:spPr>
          <a:xfrm>
            <a:off x="548640" y="2689832"/>
            <a:ext cx="2606040" cy="45720"/>
          </a:xfrm>
          <a:prstGeom prst="rect">
            <a:avLst/>
          </a:prstGeom>
          <a:solidFill>
            <a:srgbClr val="4FB64B"/>
          </a:solidFill>
          <a:ln/>
        </p:spPr>
      </p:sp>
      <p:sp>
        <p:nvSpPr>
          <p:cNvPr id="7" name="Text 5"/>
          <p:cNvSpPr/>
          <p:nvPr/>
        </p:nvSpPr>
        <p:spPr>
          <a:xfrm>
            <a:off x="548640" y="1508760"/>
            <a:ext cx="2606040" cy="640080"/>
          </a:xfrm>
          <a:prstGeom prst="rect">
            <a:avLst/>
          </a:prstGeom>
          <a:noFill/>
          <a:ln/>
        </p:spPr>
        <p:txBody>
          <a:bodyPr wrap="square" lIns="0" tIns="0" rIns="0" bIns="0" rtlCol="0" anchor="ctr"/>
          <a:lstStyle/>
          <a:p>
            <a:pPr marL="0" indent="0" algn="ctr">
              <a:buNone/>
            </a:pPr>
            <a:r>
              <a:rPr lang="en-US" sz="3000" b="1" dirty="0">
                <a:solidFill>
                  <a:srgbClr val="2B2B2B"/>
                </a:solidFill>
                <a:latin typeface="Arial" pitchFamily="34" charset="0"/>
                <a:ea typeface="Arial" pitchFamily="34" charset="-122"/>
                <a:cs typeface="Arial" pitchFamily="34" charset="-120"/>
              </a:rPr>
              <a:t>10,000</a:t>
            </a:r>
            <a:endParaRPr lang="en-US" sz="3000" dirty="0"/>
          </a:p>
        </p:txBody>
      </p:sp>
      <p:sp>
        <p:nvSpPr>
          <p:cNvPr id="8" name="Text 6"/>
          <p:cNvSpPr/>
          <p:nvPr/>
        </p:nvSpPr>
        <p:spPr>
          <a:xfrm>
            <a:off x="548640" y="2103120"/>
            <a:ext cx="2606040" cy="365760"/>
          </a:xfrm>
          <a:prstGeom prst="rect">
            <a:avLst/>
          </a:prstGeom>
          <a:noFill/>
          <a:ln/>
        </p:spPr>
        <p:txBody>
          <a:bodyPr wrap="square" lIns="0" tIns="0" rIns="0" bIns="0" rtlCol="0" anchor="ctr"/>
          <a:lstStyle/>
          <a:p>
            <a:pPr marL="0" indent="0" algn="ctr">
              <a:buNone/>
            </a:pPr>
            <a:r>
              <a:rPr lang="en-US" sz="1100" kern="0" spc="100" dirty="0">
                <a:solidFill>
                  <a:srgbClr val="6B6B6B"/>
                </a:solidFill>
                <a:latin typeface="Calibri" pitchFamily="34" charset="0"/>
                <a:ea typeface="Calibri" pitchFamily="34" charset="-122"/>
                <a:cs typeface="Calibri" pitchFamily="34" charset="-120"/>
              </a:rPr>
              <a:t>CLIENTES</a:t>
            </a:r>
            <a:endParaRPr lang="en-US" sz="1100" dirty="0"/>
          </a:p>
        </p:txBody>
      </p:sp>
      <p:sp>
        <p:nvSpPr>
          <p:cNvPr id="9" name="Shape 7"/>
          <p:cNvSpPr/>
          <p:nvPr/>
        </p:nvSpPr>
        <p:spPr>
          <a:xfrm>
            <a:off x="3383280" y="1371600"/>
            <a:ext cx="2606040" cy="1371600"/>
          </a:xfrm>
          <a:prstGeom prst="roundRect">
            <a:avLst>
              <a:gd name="adj" fmla="val 5333"/>
            </a:avLst>
          </a:prstGeom>
          <a:solidFill>
            <a:srgbClr val="F5F5F5"/>
          </a:solidFill>
          <a:ln/>
          <a:effectLst>
            <a:outerShdw blurRad="101600" dist="38100" dir="2700000" algn="bl" rotWithShape="0">
              <a:srgbClr val="000000">
                <a:alpha val="12000"/>
              </a:srgbClr>
            </a:outerShdw>
          </a:effectLst>
        </p:spPr>
      </p:sp>
      <p:sp>
        <p:nvSpPr>
          <p:cNvPr id="10" name="Shape 8"/>
          <p:cNvSpPr/>
          <p:nvPr/>
        </p:nvSpPr>
        <p:spPr>
          <a:xfrm>
            <a:off x="3383280" y="2680500"/>
            <a:ext cx="2606040" cy="45720"/>
          </a:xfrm>
          <a:prstGeom prst="rect">
            <a:avLst/>
          </a:prstGeom>
          <a:solidFill>
            <a:srgbClr val="4FB64B"/>
          </a:solidFill>
          <a:ln/>
        </p:spPr>
      </p:sp>
      <p:sp>
        <p:nvSpPr>
          <p:cNvPr id="11" name="Text 9"/>
          <p:cNvSpPr/>
          <p:nvPr/>
        </p:nvSpPr>
        <p:spPr>
          <a:xfrm>
            <a:off x="3383280" y="1508760"/>
            <a:ext cx="2606040" cy="640080"/>
          </a:xfrm>
          <a:prstGeom prst="rect">
            <a:avLst/>
          </a:prstGeom>
          <a:noFill/>
          <a:ln/>
        </p:spPr>
        <p:txBody>
          <a:bodyPr wrap="square" lIns="0" tIns="0" rIns="0" bIns="0" rtlCol="0" anchor="ctr"/>
          <a:lstStyle/>
          <a:p>
            <a:pPr marL="0" indent="0" algn="ctr">
              <a:buNone/>
            </a:pPr>
            <a:r>
              <a:rPr lang="en-US" sz="3000" b="1" dirty="0">
                <a:solidFill>
                  <a:srgbClr val="2B2B2B"/>
                </a:solidFill>
                <a:latin typeface="Arial" pitchFamily="34" charset="0"/>
                <a:ea typeface="Arial" pitchFamily="34" charset="-122"/>
                <a:cs typeface="Arial" pitchFamily="34" charset="-120"/>
              </a:rPr>
              <a:t>11</a:t>
            </a:r>
            <a:endParaRPr lang="en-US" sz="3000" dirty="0"/>
          </a:p>
        </p:txBody>
      </p:sp>
      <p:sp>
        <p:nvSpPr>
          <p:cNvPr id="12" name="Text 10"/>
          <p:cNvSpPr/>
          <p:nvPr/>
        </p:nvSpPr>
        <p:spPr>
          <a:xfrm>
            <a:off x="3383280" y="2103120"/>
            <a:ext cx="2606040" cy="365760"/>
          </a:xfrm>
          <a:prstGeom prst="rect">
            <a:avLst/>
          </a:prstGeom>
          <a:noFill/>
          <a:ln/>
        </p:spPr>
        <p:txBody>
          <a:bodyPr wrap="square" lIns="0" tIns="0" rIns="0" bIns="0" rtlCol="0" anchor="ctr"/>
          <a:lstStyle/>
          <a:p>
            <a:pPr marL="0" indent="0" algn="ctr">
              <a:buNone/>
            </a:pPr>
            <a:r>
              <a:rPr lang="en-US" sz="1100" kern="0" spc="100" dirty="0">
                <a:solidFill>
                  <a:srgbClr val="6B6B6B"/>
                </a:solidFill>
                <a:latin typeface="Calibri" pitchFamily="34" charset="0"/>
                <a:ea typeface="Calibri" pitchFamily="34" charset="-122"/>
                <a:cs typeface="Calibri" pitchFamily="34" charset="-120"/>
              </a:rPr>
              <a:t>VARIABLES</a:t>
            </a:r>
            <a:endParaRPr lang="en-US" sz="1100" dirty="0"/>
          </a:p>
        </p:txBody>
      </p:sp>
      <p:sp>
        <p:nvSpPr>
          <p:cNvPr id="13" name="Shape 11"/>
          <p:cNvSpPr/>
          <p:nvPr/>
        </p:nvSpPr>
        <p:spPr>
          <a:xfrm>
            <a:off x="6217920" y="1371600"/>
            <a:ext cx="2606040" cy="1371600"/>
          </a:xfrm>
          <a:prstGeom prst="roundRect">
            <a:avLst>
              <a:gd name="adj" fmla="val 5333"/>
            </a:avLst>
          </a:prstGeom>
          <a:solidFill>
            <a:srgbClr val="F5F5F5"/>
          </a:solidFill>
          <a:ln/>
          <a:effectLst>
            <a:outerShdw blurRad="101600" dist="38100" dir="2700000" algn="bl" rotWithShape="0">
              <a:srgbClr val="000000">
                <a:alpha val="12000"/>
              </a:srgbClr>
            </a:outerShdw>
          </a:effectLst>
        </p:spPr>
      </p:sp>
      <p:sp>
        <p:nvSpPr>
          <p:cNvPr id="14" name="Shape 12"/>
          <p:cNvSpPr/>
          <p:nvPr/>
        </p:nvSpPr>
        <p:spPr>
          <a:xfrm>
            <a:off x="6217920" y="2680500"/>
            <a:ext cx="2606040" cy="45720"/>
          </a:xfrm>
          <a:prstGeom prst="rect">
            <a:avLst/>
          </a:prstGeom>
          <a:solidFill>
            <a:srgbClr val="4FB64B"/>
          </a:solidFill>
          <a:ln/>
        </p:spPr>
      </p:sp>
      <p:sp>
        <p:nvSpPr>
          <p:cNvPr id="15" name="Text 13"/>
          <p:cNvSpPr/>
          <p:nvPr/>
        </p:nvSpPr>
        <p:spPr>
          <a:xfrm>
            <a:off x="6217920" y="1508760"/>
            <a:ext cx="2606040" cy="640080"/>
          </a:xfrm>
          <a:prstGeom prst="rect">
            <a:avLst/>
          </a:prstGeom>
          <a:noFill/>
          <a:ln/>
        </p:spPr>
        <p:txBody>
          <a:bodyPr wrap="square" lIns="0" tIns="0" rIns="0" bIns="0" rtlCol="0" anchor="ctr"/>
          <a:lstStyle/>
          <a:p>
            <a:pPr marL="0" indent="0" algn="ctr">
              <a:buNone/>
            </a:pPr>
            <a:r>
              <a:rPr lang="en-US" sz="3000" b="1" dirty="0">
                <a:solidFill>
                  <a:srgbClr val="E6493C"/>
                </a:solidFill>
                <a:latin typeface="Arial" pitchFamily="34" charset="0"/>
                <a:ea typeface="Arial" pitchFamily="34" charset="-122"/>
                <a:cs typeface="Arial" pitchFamily="34" charset="-120"/>
              </a:rPr>
              <a:t>20.4%</a:t>
            </a:r>
            <a:endParaRPr lang="en-US" sz="3000" dirty="0"/>
          </a:p>
        </p:txBody>
      </p:sp>
      <p:sp>
        <p:nvSpPr>
          <p:cNvPr id="16" name="Text 14"/>
          <p:cNvSpPr/>
          <p:nvPr/>
        </p:nvSpPr>
        <p:spPr>
          <a:xfrm>
            <a:off x="6217920" y="2103120"/>
            <a:ext cx="2606040" cy="365760"/>
          </a:xfrm>
          <a:prstGeom prst="rect">
            <a:avLst/>
          </a:prstGeom>
          <a:noFill/>
          <a:ln/>
        </p:spPr>
        <p:txBody>
          <a:bodyPr wrap="square" lIns="0" tIns="0" rIns="0" bIns="0" rtlCol="0" anchor="ctr"/>
          <a:lstStyle/>
          <a:p>
            <a:pPr marL="0" indent="0" algn="ctr">
              <a:buNone/>
            </a:pPr>
            <a:r>
              <a:rPr lang="en-US" sz="1100" kern="0" spc="100" dirty="0">
                <a:solidFill>
                  <a:srgbClr val="6B6B6B"/>
                </a:solidFill>
                <a:latin typeface="Calibri" pitchFamily="34" charset="0"/>
                <a:ea typeface="Calibri" pitchFamily="34" charset="-122"/>
                <a:cs typeface="Calibri" pitchFamily="34" charset="-120"/>
              </a:rPr>
              <a:t>TASA CHURN</a:t>
            </a:r>
            <a:endParaRPr lang="en-US" sz="1100" dirty="0"/>
          </a:p>
        </p:txBody>
      </p:sp>
      <p:sp>
        <p:nvSpPr>
          <p:cNvPr id="17" name="Shape 15"/>
          <p:cNvSpPr/>
          <p:nvPr/>
        </p:nvSpPr>
        <p:spPr>
          <a:xfrm>
            <a:off x="9052560" y="1371600"/>
            <a:ext cx="2606040" cy="1371600"/>
          </a:xfrm>
          <a:prstGeom prst="roundRect">
            <a:avLst>
              <a:gd name="adj" fmla="val 5333"/>
            </a:avLst>
          </a:prstGeom>
          <a:solidFill>
            <a:srgbClr val="F5F5F5"/>
          </a:solidFill>
          <a:ln/>
          <a:effectLst>
            <a:outerShdw blurRad="101600" dist="38100" dir="2700000" algn="bl" rotWithShape="0">
              <a:srgbClr val="000000">
                <a:alpha val="12000"/>
              </a:srgbClr>
            </a:outerShdw>
          </a:effectLst>
        </p:spPr>
      </p:sp>
      <p:sp>
        <p:nvSpPr>
          <p:cNvPr id="18" name="Shape 16"/>
          <p:cNvSpPr/>
          <p:nvPr/>
        </p:nvSpPr>
        <p:spPr>
          <a:xfrm>
            <a:off x="9052560" y="2671170"/>
            <a:ext cx="2606040" cy="45720"/>
          </a:xfrm>
          <a:prstGeom prst="rect">
            <a:avLst/>
          </a:prstGeom>
          <a:solidFill>
            <a:srgbClr val="4FB64B"/>
          </a:solidFill>
          <a:ln/>
        </p:spPr>
      </p:sp>
      <p:sp>
        <p:nvSpPr>
          <p:cNvPr id="19" name="Text 17"/>
          <p:cNvSpPr/>
          <p:nvPr/>
        </p:nvSpPr>
        <p:spPr>
          <a:xfrm>
            <a:off x="9052560" y="1508760"/>
            <a:ext cx="2606040" cy="640080"/>
          </a:xfrm>
          <a:prstGeom prst="rect">
            <a:avLst/>
          </a:prstGeom>
          <a:noFill/>
          <a:ln/>
        </p:spPr>
        <p:txBody>
          <a:bodyPr wrap="square" lIns="0" tIns="0" rIns="0" bIns="0" rtlCol="0" anchor="ctr"/>
          <a:lstStyle/>
          <a:p>
            <a:pPr marL="0" indent="0" algn="ctr">
              <a:buNone/>
            </a:pPr>
            <a:r>
              <a:rPr lang="en-US" sz="3000" b="1" dirty="0">
                <a:solidFill>
                  <a:srgbClr val="2B2B2B"/>
                </a:solidFill>
                <a:latin typeface="Arial" pitchFamily="34" charset="0"/>
                <a:ea typeface="Arial" pitchFamily="34" charset="-122"/>
                <a:cs typeface="Arial" pitchFamily="34" charset="-120"/>
              </a:rPr>
              <a:t>3</a:t>
            </a:r>
            <a:endParaRPr lang="en-US" sz="3000" dirty="0"/>
          </a:p>
        </p:txBody>
      </p:sp>
      <p:sp>
        <p:nvSpPr>
          <p:cNvPr id="20" name="Text 18"/>
          <p:cNvSpPr/>
          <p:nvPr/>
        </p:nvSpPr>
        <p:spPr>
          <a:xfrm>
            <a:off x="9052560" y="2103120"/>
            <a:ext cx="2606040" cy="365760"/>
          </a:xfrm>
          <a:prstGeom prst="rect">
            <a:avLst/>
          </a:prstGeom>
          <a:noFill/>
          <a:ln/>
        </p:spPr>
        <p:txBody>
          <a:bodyPr wrap="square" lIns="0" tIns="0" rIns="0" bIns="0" rtlCol="0" anchor="ctr"/>
          <a:lstStyle/>
          <a:p>
            <a:pPr marL="0" indent="0" algn="ctr">
              <a:buNone/>
            </a:pPr>
            <a:r>
              <a:rPr lang="en-US" sz="1100" kern="0" spc="100" dirty="0">
                <a:solidFill>
                  <a:srgbClr val="6B6B6B"/>
                </a:solidFill>
                <a:latin typeface="Calibri" pitchFamily="34" charset="0"/>
                <a:ea typeface="Calibri" pitchFamily="34" charset="-122"/>
                <a:cs typeface="Calibri" pitchFamily="34" charset="-120"/>
              </a:rPr>
              <a:t>PAÍSES</a:t>
            </a:r>
            <a:endParaRPr lang="en-US" sz="1100" dirty="0"/>
          </a:p>
        </p:txBody>
      </p:sp>
      <p:sp>
        <p:nvSpPr>
          <p:cNvPr id="21" name="Shape 19"/>
          <p:cNvSpPr/>
          <p:nvPr/>
        </p:nvSpPr>
        <p:spPr>
          <a:xfrm>
            <a:off x="548640" y="3063240"/>
            <a:ext cx="11064240" cy="685800"/>
          </a:xfrm>
          <a:prstGeom prst="roundRect">
            <a:avLst>
              <a:gd name="adj" fmla="val 8000"/>
            </a:avLst>
          </a:prstGeom>
          <a:solidFill>
            <a:srgbClr val="F5F5F5"/>
          </a:solidFill>
          <a:ln/>
        </p:spPr>
      </p:sp>
      <p:sp>
        <p:nvSpPr>
          <p:cNvPr id="22" name="Text 20"/>
          <p:cNvSpPr/>
          <p:nvPr/>
        </p:nvSpPr>
        <p:spPr>
          <a:xfrm>
            <a:off x="822960" y="3063240"/>
            <a:ext cx="10515600" cy="685800"/>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Variables analizadas: </a:t>
            </a:r>
            <a:r>
              <a:rPr lang="en-US" sz="1300" dirty="0">
                <a:solidFill>
                  <a:srgbClr val="2B2B2B"/>
                </a:solidFill>
                <a:latin typeface="Calibri" pitchFamily="34" charset="0"/>
                <a:ea typeface="Calibri" pitchFamily="34" charset="-122"/>
                <a:cs typeface="Calibri" pitchFamily="34" charset="-120"/>
              </a:rPr>
              <a:t>Edad, género, país, credit score, balance, salario estimado, antigüedad, número de productos, tarjeta de crédito y miembro activo.</a:t>
            </a:r>
            <a:endParaRPr lang="en-US" sz="1300" dirty="0"/>
          </a:p>
        </p:txBody>
      </p:sp>
      <p:sp>
        <p:nvSpPr>
          <p:cNvPr id="23" name="Shape 21"/>
          <p:cNvSpPr/>
          <p:nvPr/>
        </p:nvSpPr>
        <p:spPr>
          <a:xfrm>
            <a:off x="548640" y="3977640"/>
            <a:ext cx="11064240" cy="1554480"/>
          </a:xfrm>
          <a:prstGeom prst="roundRect">
            <a:avLst>
              <a:gd name="adj" fmla="val 4706"/>
            </a:avLst>
          </a:prstGeom>
          <a:solidFill>
            <a:srgbClr val="FEECEA"/>
          </a:solidFill>
          <a:ln/>
        </p:spPr>
      </p:sp>
      <p:pic>
        <p:nvPicPr>
          <p:cNvPr id="24" name="Image 0" descr="icons2/warning.png"/>
          <p:cNvPicPr>
            <a:picLocks noChangeAspect="1"/>
          </p:cNvPicPr>
          <p:nvPr/>
        </p:nvPicPr>
        <p:blipFill>
          <a:blip r:embed="rId3"/>
          <a:stretch>
            <a:fillRect/>
          </a:stretch>
        </p:blipFill>
        <p:spPr>
          <a:xfrm>
            <a:off x="822960" y="4133088"/>
            <a:ext cx="320040" cy="320040"/>
          </a:xfrm>
          <a:prstGeom prst="rect">
            <a:avLst/>
          </a:prstGeom>
        </p:spPr>
      </p:pic>
      <p:sp>
        <p:nvSpPr>
          <p:cNvPr id="25" name="Text 22"/>
          <p:cNvSpPr/>
          <p:nvPr/>
        </p:nvSpPr>
        <p:spPr>
          <a:xfrm>
            <a:off x="1234440" y="4114800"/>
            <a:ext cx="5486400" cy="365760"/>
          </a:xfrm>
          <a:prstGeom prst="rect">
            <a:avLst/>
          </a:prstGeom>
          <a:noFill/>
          <a:ln/>
        </p:spPr>
        <p:txBody>
          <a:bodyPr wrap="square" lIns="0" tIns="0" rIns="0" bIns="0" rtlCol="0" anchor="ctr"/>
          <a:lstStyle/>
          <a:p>
            <a:pPr marL="0" indent="0">
              <a:buNone/>
            </a:pPr>
            <a:r>
              <a:rPr lang="en-US" sz="1500" b="1" dirty="0">
                <a:solidFill>
                  <a:srgbClr val="E6493C"/>
                </a:solidFill>
                <a:latin typeface="Arial" pitchFamily="34" charset="0"/>
                <a:ea typeface="Arial" pitchFamily="34" charset="-122"/>
                <a:cs typeface="Arial" pitchFamily="34" charset="-120"/>
              </a:rPr>
              <a:t>Supuestos y Limitaciones</a:t>
            </a:r>
            <a:endParaRPr lang="en-US" sz="1500" dirty="0"/>
          </a:p>
        </p:txBody>
      </p:sp>
      <p:sp>
        <p:nvSpPr>
          <p:cNvPr id="26" name="Text 23"/>
          <p:cNvSpPr/>
          <p:nvPr/>
        </p:nvSpPr>
        <p:spPr>
          <a:xfrm>
            <a:off x="822960" y="4526280"/>
            <a:ext cx="10424160" cy="914400"/>
          </a:xfrm>
          <a:prstGeom prst="rect">
            <a:avLst/>
          </a:prstGeom>
          <a:noFill/>
          <a:ln/>
        </p:spPr>
        <p:txBody>
          <a:bodyPr wrap="square" lIns="0" tIns="0" rIns="0" bIns="0" rtlCol="0" anchor="ctr"/>
          <a:lstStyle/>
          <a:p>
            <a:pPr marL="0" indent="0">
              <a:buNone/>
            </a:pPr>
            <a:r>
              <a:rPr lang="en-US" sz="1300" dirty="0">
                <a:solidFill>
                  <a:srgbClr val="8A2A22"/>
                </a:solidFill>
                <a:latin typeface="Calibri" pitchFamily="34" charset="0"/>
                <a:ea typeface="Calibri" pitchFamily="34" charset="-122"/>
                <a:cs typeface="Calibri" pitchFamily="34" charset="-120"/>
              </a:rPr>
              <a:t>Utilizamos un dataset público como proxy. No incluye datos transaccionales detallados, historial de contacto con asesores, quejas ni uso de canales digitales. En un proyecto real de Skandia, estas variables mejorarían significativamente el poder predictivo del modelo.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66928"/>
          </a:xfrm>
          <a:prstGeom prst="rect">
            <a:avLst/>
          </a:prstGeom>
          <a:solidFill>
            <a:srgbClr val="4FB64B"/>
          </a:solidFill>
          <a:ln/>
        </p:spPr>
      </p:sp>
      <p:sp>
        <p:nvSpPr>
          <p:cNvPr id="3" name="Text 1"/>
          <p:cNvSpPr/>
          <p:nvPr/>
        </p:nvSpPr>
        <p:spPr>
          <a:xfrm>
            <a:off x="320040" y="320040"/>
            <a:ext cx="8686800" cy="594360"/>
          </a:xfrm>
          <a:prstGeom prst="rect">
            <a:avLst/>
          </a:prstGeom>
          <a:noFill/>
          <a:ln/>
        </p:spPr>
        <p:txBody>
          <a:bodyPr wrap="square" lIns="0" tIns="0" rIns="0" bIns="0" rtlCol="0" anchor="ctr"/>
          <a:lstStyle/>
          <a:p>
            <a:pPr marL="0" indent="0">
              <a:buNone/>
            </a:pPr>
            <a:r>
              <a:rPr lang="en-US" sz="3000" b="1" dirty="0">
                <a:solidFill>
                  <a:srgbClr val="2B2B2B"/>
                </a:solidFill>
                <a:latin typeface="Arial" pitchFamily="34" charset="0"/>
                <a:ea typeface="Arial" pitchFamily="34" charset="-122"/>
                <a:cs typeface="Arial" pitchFamily="34" charset="-120"/>
              </a:rPr>
              <a:t>Principales Hallazgos del EDA</a:t>
            </a:r>
            <a:endParaRPr lang="en-US" sz="3000" dirty="0"/>
          </a:p>
        </p:txBody>
      </p:sp>
      <p:sp>
        <p:nvSpPr>
          <p:cNvPr id="4" name="Text 2"/>
          <p:cNvSpPr/>
          <p:nvPr/>
        </p:nvSpPr>
        <p:spPr>
          <a:xfrm>
            <a:off x="10728655" y="320040"/>
            <a:ext cx="1097280" cy="365760"/>
          </a:xfrm>
          <a:prstGeom prst="rect">
            <a:avLst/>
          </a:prstGeom>
          <a:noFill/>
          <a:ln/>
        </p:spPr>
        <p:txBody>
          <a:bodyPr wrap="square" lIns="0" tIns="0" rIns="0" bIns="0" rtlCol="0" anchor="ctr"/>
          <a:lstStyle/>
          <a:p>
            <a:pPr marL="0" indent="0" algn="r">
              <a:buNone/>
            </a:pPr>
            <a:r>
              <a:rPr lang="en-US" sz="1200" dirty="0">
                <a:solidFill>
                  <a:srgbClr val="9A9A9A"/>
                </a:solidFill>
                <a:latin typeface="Calibri" pitchFamily="34" charset="0"/>
                <a:ea typeface="Calibri" pitchFamily="34" charset="-122"/>
                <a:cs typeface="Calibri" pitchFamily="34" charset="-120"/>
              </a:rPr>
              <a:t>04 / 08</a:t>
            </a:r>
            <a:endParaRPr lang="en-US" sz="1200" dirty="0"/>
          </a:p>
        </p:txBody>
      </p:sp>
      <p:sp>
        <p:nvSpPr>
          <p:cNvPr id="5" name="Shape 3"/>
          <p:cNvSpPr/>
          <p:nvPr/>
        </p:nvSpPr>
        <p:spPr>
          <a:xfrm>
            <a:off x="548640" y="1371600"/>
            <a:ext cx="5349240" cy="1965960"/>
          </a:xfrm>
          <a:prstGeom prst="roundRect">
            <a:avLst>
              <a:gd name="adj" fmla="val 3721"/>
            </a:avLst>
          </a:prstGeom>
          <a:solidFill>
            <a:srgbClr val="FEECEA"/>
          </a:solidFill>
          <a:ln/>
        </p:spPr>
      </p:sp>
      <p:pic>
        <p:nvPicPr>
          <p:cNvPr id="6" name="Image 0" descr="icons2/globe.png"/>
          <p:cNvPicPr>
            <a:picLocks noChangeAspect="1"/>
          </p:cNvPicPr>
          <p:nvPr/>
        </p:nvPicPr>
        <p:blipFill>
          <a:blip r:embed="rId3"/>
          <a:stretch>
            <a:fillRect/>
          </a:stretch>
        </p:blipFill>
        <p:spPr>
          <a:xfrm>
            <a:off x="822960" y="1630446"/>
            <a:ext cx="365760" cy="360133"/>
          </a:xfrm>
          <a:prstGeom prst="rect">
            <a:avLst/>
          </a:prstGeom>
        </p:spPr>
      </p:pic>
      <p:sp>
        <p:nvSpPr>
          <p:cNvPr id="7" name="Text 4"/>
          <p:cNvSpPr/>
          <p:nvPr/>
        </p:nvSpPr>
        <p:spPr>
          <a:xfrm>
            <a:off x="1325880" y="1600200"/>
            <a:ext cx="4343400" cy="411480"/>
          </a:xfrm>
          <a:prstGeom prst="rect">
            <a:avLst/>
          </a:prstGeom>
          <a:noFill/>
          <a:ln/>
        </p:spPr>
        <p:txBody>
          <a:bodyPr wrap="square" lIns="0" tIns="0" rIns="0" bIns="0" rtlCol="0" anchor="ctr"/>
          <a:lstStyle/>
          <a:p>
            <a:pPr marL="0" indent="0">
              <a:buNone/>
            </a:pPr>
            <a:r>
              <a:rPr lang="en-US" sz="1500" b="1" dirty="0">
                <a:solidFill>
                  <a:srgbClr val="E6493C"/>
                </a:solidFill>
                <a:latin typeface="Arial" pitchFamily="34" charset="0"/>
                <a:ea typeface="Arial" pitchFamily="34" charset="-122"/>
                <a:cs typeface="Arial" pitchFamily="34" charset="-120"/>
              </a:rPr>
              <a:t>Alemania lidera el Churn</a:t>
            </a:r>
            <a:endParaRPr lang="en-US" sz="1500" dirty="0"/>
          </a:p>
        </p:txBody>
      </p:sp>
      <p:sp>
        <p:nvSpPr>
          <p:cNvPr id="8" name="Text 5"/>
          <p:cNvSpPr/>
          <p:nvPr/>
        </p:nvSpPr>
        <p:spPr>
          <a:xfrm>
            <a:off x="822960" y="2103120"/>
            <a:ext cx="4800600" cy="105156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Tasa de ~32% vs ~16% en Francia y España. Mercado que requiere una estrategia comercial de retención y análisis de producto sumamente diferenciada.</a:t>
            </a:r>
            <a:endParaRPr lang="en-US" sz="1250" dirty="0"/>
          </a:p>
        </p:txBody>
      </p:sp>
      <p:sp>
        <p:nvSpPr>
          <p:cNvPr id="9" name="Shape 6"/>
          <p:cNvSpPr/>
          <p:nvPr/>
        </p:nvSpPr>
        <p:spPr>
          <a:xfrm>
            <a:off x="6263640" y="1371600"/>
            <a:ext cx="5349240" cy="1965960"/>
          </a:xfrm>
          <a:prstGeom prst="roundRect">
            <a:avLst>
              <a:gd name="adj" fmla="val 3721"/>
            </a:avLst>
          </a:prstGeom>
          <a:solidFill>
            <a:srgbClr val="FFF2DF"/>
          </a:solidFill>
          <a:ln/>
        </p:spPr>
      </p:sp>
      <p:pic>
        <p:nvPicPr>
          <p:cNvPr id="10" name="Image 1" descr="icons2/users.png"/>
          <p:cNvPicPr>
            <a:picLocks noChangeAspect="1"/>
          </p:cNvPicPr>
          <p:nvPr/>
        </p:nvPicPr>
        <p:blipFill>
          <a:blip r:embed="rId4"/>
          <a:stretch>
            <a:fillRect/>
          </a:stretch>
        </p:blipFill>
        <p:spPr>
          <a:xfrm>
            <a:off x="6537960" y="1659530"/>
            <a:ext cx="365760" cy="301965"/>
          </a:xfrm>
          <a:prstGeom prst="rect">
            <a:avLst/>
          </a:prstGeom>
        </p:spPr>
      </p:pic>
      <p:sp>
        <p:nvSpPr>
          <p:cNvPr id="11" name="Text 7"/>
          <p:cNvSpPr/>
          <p:nvPr/>
        </p:nvSpPr>
        <p:spPr>
          <a:xfrm>
            <a:off x="7040880" y="1600200"/>
            <a:ext cx="4343400" cy="411480"/>
          </a:xfrm>
          <a:prstGeom prst="rect">
            <a:avLst/>
          </a:prstGeom>
          <a:noFill/>
          <a:ln/>
        </p:spPr>
        <p:txBody>
          <a:bodyPr wrap="square" lIns="0" tIns="0" rIns="0" bIns="0" rtlCol="0" anchor="ctr"/>
          <a:lstStyle/>
          <a:p>
            <a:pPr marL="0" indent="0">
              <a:buNone/>
            </a:pPr>
            <a:r>
              <a:rPr lang="en-US" sz="1500" b="1" dirty="0">
                <a:solidFill>
                  <a:srgbClr val="F29E07"/>
                </a:solidFill>
                <a:latin typeface="Arial" pitchFamily="34" charset="0"/>
                <a:ea typeface="Arial" pitchFamily="34" charset="-122"/>
                <a:cs typeface="Arial" pitchFamily="34" charset="-120"/>
              </a:rPr>
              <a:t>Seniors en Mayor Riesgo</a:t>
            </a:r>
            <a:endParaRPr lang="en-US" sz="1500" dirty="0"/>
          </a:p>
        </p:txBody>
      </p:sp>
      <p:sp>
        <p:nvSpPr>
          <p:cNvPr id="12" name="Text 8"/>
          <p:cNvSpPr/>
          <p:nvPr/>
        </p:nvSpPr>
        <p:spPr>
          <a:xfrm>
            <a:off x="6537960" y="2103120"/>
            <a:ext cx="4800600" cy="105156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Clientes entre 51-60 años muestran un alarmante churn del ~56%. Este segmento es críticamente el más vulnerable de la cartera pasiva.</a:t>
            </a:r>
            <a:endParaRPr lang="en-US" sz="1250" dirty="0"/>
          </a:p>
        </p:txBody>
      </p:sp>
      <p:sp>
        <p:nvSpPr>
          <p:cNvPr id="13" name="Shape 9"/>
          <p:cNvSpPr/>
          <p:nvPr/>
        </p:nvSpPr>
        <p:spPr>
          <a:xfrm>
            <a:off x="548640" y="3611880"/>
            <a:ext cx="5349240" cy="1965960"/>
          </a:xfrm>
          <a:prstGeom prst="roundRect">
            <a:avLst>
              <a:gd name="adj" fmla="val 3721"/>
            </a:avLst>
          </a:prstGeom>
          <a:solidFill>
            <a:srgbClr val="E9F3E8"/>
          </a:solidFill>
          <a:ln/>
        </p:spPr>
      </p:sp>
      <p:pic>
        <p:nvPicPr>
          <p:cNvPr id="14" name="Image 2" descr="icons2/eye.png"/>
          <p:cNvPicPr>
            <a:picLocks noChangeAspect="1"/>
          </p:cNvPicPr>
          <p:nvPr/>
        </p:nvPicPr>
        <p:blipFill>
          <a:blip r:embed="rId5"/>
          <a:stretch>
            <a:fillRect/>
          </a:stretch>
        </p:blipFill>
        <p:spPr>
          <a:xfrm>
            <a:off x="822960" y="3922073"/>
            <a:ext cx="365760" cy="257439"/>
          </a:xfrm>
          <a:prstGeom prst="rect">
            <a:avLst/>
          </a:prstGeom>
        </p:spPr>
      </p:pic>
      <p:sp>
        <p:nvSpPr>
          <p:cNvPr id="15" name="Text 10"/>
          <p:cNvSpPr/>
          <p:nvPr/>
        </p:nvSpPr>
        <p:spPr>
          <a:xfrm>
            <a:off x="1325880" y="3840480"/>
            <a:ext cx="4343400" cy="411480"/>
          </a:xfrm>
          <a:prstGeom prst="rect">
            <a:avLst/>
          </a:prstGeom>
          <a:noFill/>
          <a:ln/>
        </p:spPr>
        <p:txBody>
          <a:bodyPr wrap="square" lIns="0" tIns="0" rIns="0" bIns="0" rtlCol="0" anchor="ctr"/>
          <a:lstStyle/>
          <a:p>
            <a:pPr marL="0" indent="0">
              <a:buNone/>
            </a:pPr>
            <a:r>
              <a:rPr lang="en-US" sz="1500" b="1" dirty="0">
                <a:solidFill>
                  <a:srgbClr val="4FB64B"/>
                </a:solidFill>
                <a:latin typeface="Arial" pitchFamily="34" charset="0"/>
                <a:ea typeface="Arial" pitchFamily="34" charset="-122"/>
                <a:cs typeface="Arial" pitchFamily="34" charset="-120"/>
              </a:rPr>
              <a:t>Inactividad Duplica el Riesgo</a:t>
            </a:r>
            <a:endParaRPr lang="en-US" sz="1500" dirty="0"/>
          </a:p>
        </p:txBody>
      </p:sp>
      <p:sp>
        <p:nvSpPr>
          <p:cNvPr id="16" name="Text 11"/>
          <p:cNvSpPr/>
          <p:nvPr/>
        </p:nvSpPr>
        <p:spPr>
          <a:xfrm>
            <a:off x="822960" y="4343400"/>
            <a:ext cx="4800600" cy="105156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Clientes inactivos registran un 27% de churn vs un 14% de clientes activos. Los programas dirigidos de activación reducirán directamente la fuga.</a:t>
            </a:r>
            <a:endParaRPr lang="en-US" sz="1250" dirty="0"/>
          </a:p>
        </p:txBody>
      </p:sp>
      <p:sp>
        <p:nvSpPr>
          <p:cNvPr id="17" name="Shape 12"/>
          <p:cNvSpPr/>
          <p:nvPr/>
        </p:nvSpPr>
        <p:spPr>
          <a:xfrm>
            <a:off x="6263640" y="3611880"/>
            <a:ext cx="5349240" cy="1965960"/>
          </a:xfrm>
          <a:prstGeom prst="roundRect">
            <a:avLst>
              <a:gd name="adj" fmla="val 3721"/>
            </a:avLst>
          </a:prstGeom>
          <a:solidFill>
            <a:srgbClr val="EEE8F6"/>
          </a:solidFill>
          <a:ln/>
        </p:spPr>
      </p:sp>
      <p:pic>
        <p:nvPicPr>
          <p:cNvPr id="18" name="Image 3" descr="icons2/layers.png"/>
          <p:cNvPicPr>
            <a:picLocks noChangeAspect="1"/>
          </p:cNvPicPr>
          <p:nvPr/>
        </p:nvPicPr>
        <p:blipFill>
          <a:blip r:embed="rId6"/>
          <a:stretch>
            <a:fillRect/>
          </a:stretch>
        </p:blipFill>
        <p:spPr>
          <a:xfrm>
            <a:off x="6547961" y="3867912"/>
            <a:ext cx="345758" cy="365760"/>
          </a:xfrm>
          <a:prstGeom prst="rect">
            <a:avLst/>
          </a:prstGeom>
        </p:spPr>
      </p:pic>
      <p:sp>
        <p:nvSpPr>
          <p:cNvPr id="19" name="Text 13"/>
          <p:cNvSpPr/>
          <p:nvPr/>
        </p:nvSpPr>
        <p:spPr>
          <a:xfrm>
            <a:off x="7040880" y="3840480"/>
            <a:ext cx="4343400" cy="411480"/>
          </a:xfrm>
          <a:prstGeom prst="rect">
            <a:avLst/>
          </a:prstGeom>
          <a:noFill/>
          <a:ln/>
        </p:spPr>
        <p:txBody>
          <a:bodyPr wrap="square" lIns="0" tIns="0" rIns="0" bIns="0" rtlCol="0" anchor="ctr"/>
          <a:lstStyle/>
          <a:p>
            <a:pPr marL="0" indent="0">
              <a:buNone/>
            </a:pPr>
            <a:r>
              <a:rPr lang="en-US" sz="1500" b="1" dirty="0">
                <a:solidFill>
                  <a:srgbClr val="9243AE"/>
                </a:solidFill>
                <a:latin typeface="Arial" pitchFamily="34" charset="0"/>
                <a:ea typeface="Arial" pitchFamily="34" charset="-122"/>
                <a:cs typeface="Arial" pitchFamily="34" charset="-120"/>
              </a:rPr>
              <a:t>Paradoja Multi-Producto</a:t>
            </a:r>
            <a:endParaRPr lang="en-US" sz="1500" dirty="0"/>
          </a:p>
        </p:txBody>
      </p:sp>
      <p:sp>
        <p:nvSpPr>
          <p:cNvPr id="20" name="Text 14"/>
          <p:cNvSpPr/>
          <p:nvPr/>
        </p:nvSpPr>
        <p:spPr>
          <a:xfrm>
            <a:off x="6537960" y="4343400"/>
            <a:ext cx="4800600" cy="105156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La tenencia de 3 o 4 productos muestra una correlación de alto churn. Indica una posible insatisfacción acumulada del cliente en lugar de una vinculación real.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66928"/>
          </a:xfrm>
          <a:prstGeom prst="rect">
            <a:avLst/>
          </a:prstGeom>
          <a:solidFill>
            <a:srgbClr val="4FB64B"/>
          </a:solidFill>
          <a:ln/>
        </p:spPr>
      </p:sp>
      <p:sp>
        <p:nvSpPr>
          <p:cNvPr id="3" name="Text 1"/>
          <p:cNvSpPr/>
          <p:nvPr/>
        </p:nvSpPr>
        <p:spPr>
          <a:xfrm>
            <a:off x="320040" y="320040"/>
            <a:ext cx="8686800" cy="594360"/>
          </a:xfrm>
          <a:prstGeom prst="rect">
            <a:avLst/>
          </a:prstGeom>
          <a:noFill/>
          <a:ln/>
        </p:spPr>
        <p:txBody>
          <a:bodyPr wrap="square" lIns="0" tIns="0" rIns="0" bIns="0" rtlCol="0" anchor="ctr"/>
          <a:lstStyle/>
          <a:p>
            <a:pPr marL="0" indent="0">
              <a:buNone/>
            </a:pPr>
            <a:r>
              <a:rPr lang="en-US" sz="3000" b="1" dirty="0">
                <a:solidFill>
                  <a:srgbClr val="2B2B2B"/>
                </a:solidFill>
                <a:latin typeface="Arial" pitchFamily="34" charset="0"/>
                <a:ea typeface="Arial" pitchFamily="34" charset="-122"/>
                <a:cs typeface="Arial" pitchFamily="34" charset="-120"/>
              </a:rPr>
              <a:t>Variables Asociadas a la Fuga</a:t>
            </a:r>
            <a:endParaRPr lang="en-US" sz="3000" dirty="0"/>
          </a:p>
        </p:txBody>
      </p:sp>
      <p:sp>
        <p:nvSpPr>
          <p:cNvPr id="4" name="Text 2"/>
          <p:cNvSpPr/>
          <p:nvPr/>
        </p:nvSpPr>
        <p:spPr>
          <a:xfrm>
            <a:off x="10728655" y="320040"/>
            <a:ext cx="1097280" cy="365760"/>
          </a:xfrm>
          <a:prstGeom prst="rect">
            <a:avLst/>
          </a:prstGeom>
          <a:noFill/>
          <a:ln/>
        </p:spPr>
        <p:txBody>
          <a:bodyPr wrap="square" lIns="0" tIns="0" rIns="0" bIns="0" rtlCol="0" anchor="ctr"/>
          <a:lstStyle/>
          <a:p>
            <a:pPr marL="0" indent="0" algn="r">
              <a:buNone/>
            </a:pPr>
            <a:r>
              <a:rPr lang="en-US" sz="1200" dirty="0">
                <a:solidFill>
                  <a:srgbClr val="9A9A9A"/>
                </a:solidFill>
                <a:latin typeface="Calibri" pitchFamily="34" charset="0"/>
                <a:ea typeface="Calibri" pitchFamily="34" charset="-122"/>
                <a:cs typeface="Calibri" pitchFamily="34" charset="-120"/>
              </a:rPr>
              <a:t>05 / 08</a:t>
            </a:r>
            <a:endParaRPr lang="en-US" sz="1200" dirty="0"/>
          </a:p>
        </p:txBody>
      </p:sp>
      <p:sp>
        <p:nvSpPr>
          <p:cNvPr id="5" name="Text 3"/>
          <p:cNvSpPr/>
          <p:nvPr/>
        </p:nvSpPr>
        <p:spPr>
          <a:xfrm>
            <a:off x="548640" y="1234440"/>
            <a:ext cx="10515600" cy="36576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Top 5 variables más influyentes según SHAP Values</a:t>
            </a:r>
            <a:endParaRPr lang="en-US" sz="1400" dirty="0"/>
          </a:p>
        </p:txBody>
      </p:sp>
      <p:sp>
        <p:nvSpPr>
          <p:cNvPr id="6" name="Shape 4"/>
          <p:cNvSpPr/>
          <p:nvPr/>
        </p:nvSpPr>
        <p:spPr>
          <a:xfrm>
            <a:off x="274320" y="1645920"/>
            <a:ext cx="6355080" cy="3611880"/>
          </a:xfrm>
          <a:prstGeom prst="roundRect">
            <a:avLst>
              <a:gd name="adj" fmla="val 2025"/>
            </a:avLst>
          </a:prstGeom>
          <a:solidFill>
            <a:srgbClr val="FFFFFF"/>
          </a:solidFill>
          <a:ln/>
        </p:spPr>
      </p:sp>
      <p:sp>
        <p:nvSpPr>
          <p:cNvPr id="7" name="Text 5"/>
          <p:cNvSpPr/>
          <p:nvPr/>
        </p:nvSpPr>
        <p:spPr>
          <a:xfrm>
            <a:off x="548640" y="1783080"/>
            <a:ext cx="2103120" cy="420624"/>
          </a:xfrm>
          <a:prstGeom prst="rect">
            <a:avLst/>
          </a:prstGeom>
          <a:noFill/>
          <a:ln/>
        </p:spPr>
        <p:txBody>
          <a:bodyPr wrap="square" lIns="0" tIns="0" rIns="0" bIns="0" rtlCol="0" anchor="ctr"/>
          <a:lstStyle/>
          <a:p>
            <a:pPr marL="0" indent="0" algn="r">
              <a:buNone/>
            </a:pPr>
            <a:r>
              <a:rPr lang="en-US" sz="1300" b="1" dirty="0">
                <a:solidFill>
                  <a:srgbClr val="2B2B2B"/>
                </a:solidFill>
                <a:latin typeface="Calibri" pitchFamily="34" charset="0"/>
                <a:ea typeface="Calibri" pitchFamily="34" charset="-122"/>
                <a:cs typeface="Calibri" pitchFamily="34" charset="-120"/>
              </a:rPr>
              <a:t>Edad</a:t>
            </a:r>
            <a:endParaRPr lang="en-US" sz="1300" dirty="0"/>
          </a:p>
        </p:txBody>
      </p:sp>
      <p:sp>
        <p:nvSpPr>
          <p:cNvPr id="8" name="Shape 6"/>
          <p:cNvSpPr/>
          <p:nvPr/>
        </p:nvSpPr>
        <p:spPr>
          <a:xfrm>
            <a:off x="2788920" y="1783080"/>
            <a:ext cx="3794760" cy="420624"/>
          </a:xfrm>
          <a:prstGeom prst="roundRect">
            <a:avLst>
              <a:gd name="adj" fmla="val 10870"/>
            </a:avLst>
          </a:prstGeom>
          <a:solidFill>
            <a:srgbClr val="E9E9E9"/>
          </a:solidFill>
          <a:ln/>
        </p:spPr>
      </p:sp>
      <p:sp>
        <p:nvSpPr>
          <p:cNvPr id="9" name="Shape 7"/>
          <p:cNvSpPr/>
          <p:nvPr/>
        </p:nvSpPr>
        <p:spPr>
          <a:xfrm>
            <a:off x="2788920" y="1783080"/>
            <a:ext cx="3680917" cy="420624"/>
          </a:xfrm>
          <a:prstGeom prst="roundRect">
            <a:avLst>
              <a:gd name="adj" fmla="val 10870"/>
            </a:avLst>
          </a:prstGeom>
          <a:solidFill>
            <a:srgbClr val="4FB64B"/>
          </a:solidFill>
          <a:ln/>
        </p:spPr>
      </p:sp>
      <p:sp>
        <p:nvSpPr>
          <p:cNvPr id="10" name="Text 8"/>
          <p:cNvSpPr/>
          <p:nvPr/>
        </p:nvSpPr>
        <p:spPr>
          <a:xfrm>
            <a:off x="5784037" y="1783080"/>
            <a:ext cx="594360" cy="420624"/>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0.085</a:t>
            </a:r>
            <a:endParaRPr lang="en-US" sz="1250" dirty="0"/>
          </a:p>
        </p:txBody>
      </p:sp>
      <p:sp>
        <p:nvSpPr>
          <p:cNvPr id="11" name="Text 9"/>
          <p:cNvSpPr/>
          <p:nvPr/>
        </p:nvSpPr>
        <p:spPr>
          <a:xfrm>
            <a:off x="548640" y="2487168"/>
            <a:ext cx="2103120" cy="420624"/>
          </a:xfrm>
          <a:prstGeom prst="rect">
            <a:avLst/>
          </a:prstGeom>
          <a:noFill/>
          <a:ln/>
        </p:spPr>
        <p:txBody>
          <a:bodyPr wrap="square" lIns="0" tIns="0" rIns="0" bIns="0" rtlCol="0" anchor="ctr"/>
          <a:lstStyle/>
          <a:p>
            <a:pPr marL="0" indent="0" algn="r">
              <a:buNone/>
            </a:pPr>
            <a:r>
              <a:rPr lang="en-US" sz="1300" b="1" dirty="0">
                <a:solidFill>
                  <a:srgbClr val="2B2B2B"/>
                </a:solidFill>
                <a:latin typeface="Calibri" pitchFamily="34" charset="0"/>
                <a:ea typeface="Calibri" pitchFamily="34" charset="-122"/>
                <a:cs typeface="Calibri" pitchFamily="34" charset="-120"/>
              </a:rPr>
              <a:t>Número de Productos</a:t>
            </a:r>
            <a:endParaRPr lang="en-US" sz="1300" dirty="0"/>
          </a:p>
        </p:txBody>
      </p:sp>
      <p:sp>
        <p:nvSpPr>
          <p:cNvPr id="12" name="Shape 10"/>
          <p:cNvSpPr/>
          <p:nvPr/>
        </p:nvSpPr>
        <p:spPr>
          <a:xfrm>
            <a:off x="2788920" y="2487168"/>
            <a:ext cx="3794760" cy="420624"/>
          </a:xfrm>
          <a:prstGeom prst="roundRect">
            <a:avLst>
              <a:gd name="adj" fmla="val 10870"/>
            </a:avLst>
          </a:prstGeom>
          <a:solidFill>
            <a:srgbClr val="E9E9E9"/>
          </a:solidFill>
          <a:ln/>
        </p:spPr>
      </p:sp>
      <p:sp>
        <p:nvSpPr>
          <p:cNvPr id="13" name="Shape 11"/>
          <p:cNvSpPr/>
          <p:nvPr/>
        </p:nvSpPr>
        <p:spPr>
          <a:xfrm>
            <a:off x="2788920" y="2487168"/>
            <a:ext cx="2684904" cy="420624"/>
          </a:xfrm>
          <a:prstGeom prst="roundRect">
            <a:avLst>
              <a:gd name="adj" fmla="val 10870"/>
            </a:avLst>
          </a:prstGeom>
          <a:solidFill>
            <a:srgbClr val="4FB64B"/>
          </a:solidFill>
          <a:ln/>
        </p:spPr>
      </p:sp>
      <p:sp>
        <p:nvSpPr>
          <p:cNvPr id="14" name="Text 12"/>
          <p:cNvSpPr/>
          <p:nvPr/>
        </p:nvSpPr>
        <p:spPr>
          <a:xfrm>
            <a:off x="4788024" y="2487168"/>
            <a:ext cx="594360" cy="420624"/>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0.062</a:t>
            </a:r>
            <a:endParaRPr lang="en-US" sz="1250" dirty="0"/>
          </a:p>
        </p:txBody>
      </p:sp>
      <p:sp>
        <p:nvSpPr>
          <p:cNvPr id="15" name="Text 13"/>
          <p:cNvSpPr/>
          <p:nvPr/>
        </p:nvSpPr>
        <p:spPr>
          <a:xfrm>
            <a:off x="548640" y="3191256"/>
            <a:ext cx="2103120" cy="420624"/>
          </a:xfrm>
          <a:prstGeom prst="rect">
            <a:avLst/>
          </a:prstGeom>
          <a:noFill/>
          <a:ln/>
        </p:spPr>
        <p:txBody>
          <a:bodyPr wrap="square" lIns="0" tIns="0" rIns="0" bIns="0" rtlCol="0" anchor="ctr"/>
          <a:lstStyle/>
          <a:p>
            <a:pPr marL="0" indent="0" algn="r">
              <a:buNone/>
            </a:pPr>
            <a:r>
              <a:rPr lang="en-US" sz="1300" b="1" dirty="0">
                <a:solidFill>
                  <a:srgbClr val="2B2B2B"/>
                </a:solidFill>
                <a:latin typeface="Calibri" pitchFamily="34" charset="0"/>
                <a:ea typeface="Calibri" pitchFamily="34" charset="-122"/>
                <a:cs typeface="Calibri" pitchFamily="34" charset="-120"/>
              </a:rPr>
              <a:t>Miembro Activo</a:t>
            </a:r>
            <a:endParaRPr lang="en-US" sz="1300" dirty="0"/>
          </a:p>
        </p:txBody>
      </p:sp>
      <p:sp>
        <p:nvSpPr>
          <p:cNvPr id="16" name="Shape 14"/>
          <p:cNvSpPr/>
          <p:nvPr/>
        </p:nvSpPr>
        <p:spPr>
          <a:xfrm>
            <a:off x="2788920" y="3191256"/>
            <a:ext cx="3794760" cy="420624"/>
          </a:xfrm>
          <a:prstGeom prst="roundRect">
            <a:avLst>
              <a:gd name="adj" fmla="val 10870"/>
            </a:avLst>
          </a:prstGeom>
          <a:solidFill>
            <a:srgbClr val="E9E9E9"/>
          </a:solidFill>
          <a:ln/>
        </p:spPr>
      </p:sp>
      <p:sp>
        <p:nvSpPr>
          <p:cNvPr id="17" name="Shape 15"/>
          <p:cNvSpPr/>
          <p:nvPr/>
        </p:nvSpPr>
        <p:spPr>
          <a:xfrm>
            <a:off x="2788920" y="3191256"/>
            <a:ext cx="2078636" cy="420624"/>
          </a:xfrm>
          <a:prstGeom prst="roundRect">
            <a:avLst>
              <a:gd name="adj" fmla="val 10870"/>
            </a:avLst>
          </a:prstGeom>
          <a:solidFill>
            <a:srgbClr val="4FB64B"/>
          </a:solidFill>
          <a:ln/>
        </p:spPr>
      </p:sp>
      <p:sp>
        <p:nvSpPr>
          <p:cNvPr id="18" name="Text 16"/>
          <p:cNvSpPr/>
          <p:nvPr/>
        </p:nvSpPr>
        <p:spPr>
          <a:xfrm>
            <a:off x="4181756" y="3191256"/>
            <a:ext cx="594360" cy="420624"/>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0.048</a:t>
            </a:r>
            <a:endParaRPr lang="en-US" sz="1250" dirty="0"/>
          </a:p>
        </p:txBody>
      </p:sp>
      <p:sp>
        <p:nvSpPr>
          <p:cNvPr id="19" name="Text 17"/>
          <p:cNvSpPr/>
          <p:nvPr/>
        </p:nvSpPr>
        <p:spPr>
          <a:xfrm>
            <a:off x="548640" y="3895344"/>
            <a:ext cx="2103120" cy="420624"/>
          </a:xfrm>
          <a:prstGeom prst="rect">
            <a:avLst/>
          </a:prstGeom>
          <a:noFill/>
          <a:ln/>
        </p:spPr>
        <p:txBody>
          <a:bodyPr wrap="square" lIns="0" tIns="0" rIns="0" bIns="0" rtlCol="0" anchor="ctr"/>
          <a:lstStyle/>
          <a:p>
            <a:pPr marL="0" indent="0" algn="r">
              <a:buNone/>
            </a:pPr>
            <a:r>
              <a:rPr lang="en-US" sz="1300" b="1" dirty="0">
                <a:solidFill>
                  <a:srgbClr val="2B2B2B"/>
                </a:solidFill>
                <a:latin typeface="Calibri" pitchFamily="34" charset="0"/>
                <a:ea typeface="Calibri" pitchFamily="34" charset="-122"/>
                <a:cs typeface="Calibri" pitchFamily="34" charset="-120"/>
              </a:rPr>
              <a:t>Geografía (Alemania)</a:t>
            </a:r>
            <a:endParaRPr lang="en-US" sz="1300" dirty="0"/>
          </a:p>
        </p:txBody>
      </p:sp>
      <p:sp>
        <p:nvSpPr>
          <p:cNvPr id="20" name="Shape 18"/>
          <p:cNvSpPr/>
          <p:nvPr/>
        </p:nvSpPr>
        <p:spPr>
          <a:xfrm>
            <a:off x="2788920" y="3895344"/>
            <a:ext cx="3794760" cy="420624"/>
          </a:xfrm>
          <a:prstGeom prst="roundRect">
            <a:avLst>
              <a:gd name="adj" fmla="val 10870"/>
            </a:avLst>
          </a:prstGeom>
          <a:solidFill>
            <a:srgbClr val="E9E9E9"/>
          </a:solidFill>
          <a:ln/>
        </p:spPr>
      </p:sp>
      <p:sp>
        <p:nvSpPr>
          <p:cNvPr id="21" name="Shape 19"/>
          <p:cNvSpPr/>
          <p:nvPr/>
        </p:nvSpPr>
        <p:spPr>
          <a:xfrm>
            <a:off x="2788920" y="3895344"/>
            <a:ext cx="1775501" cy="420624"/>
          </a:xfrm>
          <a:prstGeom prst="roundRect">
            <a:avLst>
              <a:gd name="adj" fmla="val 10870"/>
            </a:avLst>
          </a:prstGeom>
          <a:solidFill>
            <a:srgbClr val="4FB64B"/>
          </a:solidFill>
          <a:ln/>
        </p:spPr>
      </p:sp>
      <p:sp>
        <p:nvSpPr>
          <p:cNvPr id="22" name="Text 20"/>
          <p:cNvSpPr/>
          <p:nvPr/>
        </p:nvSpPr>
        <p:spPr>
          <a:xfrm>
            <a:off x="3878621" y="3895344"/>
            <a:ext cx="594360" cy="420624"/>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0.041</a:t>
            </a:r>
            <a:endParaRPr lang="en-US" sz="1250" dirty="0"/>
          </a:p>
        </p:txBody>
      </p:sp>
      <p:sp>
        <p:nvSpPr>
          <p:cNvPr id="23" name="Text 21"/>
          <p:cNvSpPr/>
          <p:nvPr/>
        </p:nvSpPr>
        <p:spPr>
          <a:xfrm>
            <a:off x="548640" y="4599432"/>
            <a:ext cx="2103120" cy="420624"/>
          </a:xfrm>
          <a:prstGeom prst="rect">
            <a:avLst/>
          </a:prstGeom>
          <a:noFill/>
          <a:ln/>
        </p:spPr>
        <p:txBody>
          <a:bodyPr wrap="square" lIns="0" tIns="0" rIns="0" bIns="0" rtlCol="0" anchor="ctr"/>
          <a:lstStyle/>
          <a:p>
            <a:pPr marL="0" indent="0" algn="r">
              <a:buNone/>
            </a:pPr>
            <a:r>
              <a:rPr lang="en-US" sz="1300" b="1" dirty="0">
                <a:solidFill>
                  <a:srgbClr val="2B2B2B"/>
                </a:solidFill>
                <a:latin typeface="Calibri" pitchFamily="34" charset="0"/>
                <a:ea typeface="Calibri" pitchFamily="34" charset="-122"/>
                <a:cs typeface="Calibri" pitchFamily="34" charset="-120"/>
              </a:rPr>
              <a:t>Balance</a:t>
            </a:r>
            <a:endParaRPr lang="en-US" sz="1300" dirty="0"/>
          </a:p>
        </p:txBody>
      </p:sp>
      <p:sp>
        <p:nvSpPr>
          <p:cNvPr id="24" name="Shape 22"/>
          <p:cNvSpPr/>
          <p:nvPr/>
        </p:nvSpPr>
        <p:spPr>
          <a:xfrm>
            <a:off x="2788920" y="4599432"/>
            <a:ext cx="3794760" cy="420624"/>
          </a:xfrm>
          <a:prstGeom prst="roundRect">
            <a:avLst>
              <a:gd name="adj" fmla="val 10870"/>
            </a:avLst>
          </a:prstGeom>
          <a:solidFill>
            <a:srgbClr val="E9E9E9"/>
          </a:solidFill>
          <a:ln/>
        </p:spPr>
      </p:sp>
      <p:sp>
        <p:nvSpPr>
          <p:cNvPr id="25" name="Shape 23"/>
          <p:cNvSpPr/>
          <p:nvPr/>
        </p:nvSpPr>
        <p:spPr>
          <a:xfrm>
            <a:off x="2788920" y="4599432"/>
            <a:ext cx="1515672" cy="420624"/>
          </a:xfrm>
          <a:prstGeom prst="roundRect">
            <a:avLst>
              <a:gd name="adj" fmla="val 10870"/>
            </a:avLst>
          </a:prstGeom>
          <a:solidFill>
            <a:srgbClr val="4FB64B"/>
          </a:solidFill>
          <a:ln/>
        </p:spPr>
      </p:sp>
      <p:sp>
        <p:nvSpPr>
          <p:cNvPr id="26" name="Text 24"/>
          <p:cNvSpPr/>
          <p:nvPr/>
        </p:nvSpPr>
        <p:spPr>
          <a:xfrm>
            <a:off x="3618792" y="4599432"/>
            <a:ext cx="594360" cy="420624"/>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0.035</a:t>
            </a:r>
            <a:endParaRPr lang="en-US" sz="1250" dirty="0"/>
          </a:p>
        </p:txBody>
      </p:sp>
      <p:sp>
        <p:nvSpPr>
          <p:cNvPr id="27" name="Shape 25"/>
          <p:cNvSpPr/>
          <p:nvPr/>
        </p:nvSpPr>
        <p:spPr>
          <a:xfrm>
            <a:off x="6903720" y="1645920"/>
            <a:ext cx="4709160" cy="3611880"/>
          </a:xfrm>
          <a:prstGeom prst="roundRect">
            <a:avLst>
              <a:gd name="adj" fmla="val 1860"/>
            </a:avLst>
          </a:prstGeom>
          <a:solidFill>
            <a:srgbClr val="E9F3E8"/>
          </a:solidFill>
          <a:ln/>
        </p:spPr>
      </p:sp>
      <p:pic>
        <p:nvPicPr>
          <p:cNvPr id="28" name="Image 0" descr="icons2/cogs.png"/>
          <p:cNvPicPr>
            <a:picLocks noChangeAspect="1"/>
          </p:cNvPicPr>
          <p:nvPr/>
        </p:nvPicPr>
        <p:blipFill>
          <a:blip r:embed="rId3"/>
          <a:stretch>
            <a:fillRect/>
          </a:stretch>
        </p:blipFill>
        <p:spPr>
          <a:xfrm>
            <a:off x="7179458" y="1920240"/>
            <a:ext cx="362925" cy="365760"/>
          </a:xfrm>
          <a:prstGeom prst="rect">
            <a:avLst/>
          </a:prstGeom>
        </p:spPr>
      </p:pic>
      <p:sp>
        <p:nvSpPr>
          <p:cNvPr id="29" name="Text 26"/>
          <p:cNvSpPr/>
          <p:nvPr/>
        </p:nvSpPr>
        <p:spPr>
          <a:xfrm>
            <a:off x="7635240" y="1901952"/>
            <a:ext cx="3840480" cy="411480"/>
          </a:xfrm>
          <a:prstGeom prst="rect">
            <a:avLst/>
          </a:prstGeom>
          <a:noFill/>
          <a:ln/>
        </p:spPr>
        <p:txBody>
          <a:bodyPr wrap="square" lIns="0" tIns="0" rIns="0" bIns="0" rtlCol="0" anchor="ctr"/>
          <a:lstStyle/>
          <a:p>
            <a:pPr marL="0" indent="0">
              <a:buNone/>
            </a:pPr>
            <a:r>
              <a:rPr lang="en-US" sz="1700" b="1" dirty="0">
                <a:solidFill>
                  <a:srgbClr val="4FB64B"/>
                </a:solidFill>
                <a:latin typeface="Arial" pitchFamily="34" charset="0"/>
                <a:ea typeface="Arial" pitchFamily="34" charset="-122"/>
                <a:cs typeface="Arial" pitchFamily="34" charset="-120"/>
              </a:rPr>
              <a:t>Feature Engineering</a:t>
            </a:r>
            <a:endParaRPr lang="en-US" sz="1700" dirty="0"/>
          </a:p>
        </p:txBody>
      </p:sp>
      <p:sp>
        <p:nvSpPr>
          <p:cNvPr id="30" name="Text 27"/>
          <p:cNvSpPr/>
          <p:nvPr/>
        </p:nvSpPr>
        <p:spPr>
          <a:xfrm>
            <a:off x="7179458" y="2194560"/>
            <a:ext cx="4160520" cy="3017520"/>
          </a:xfrm>
          <a:prstGeom prst="rect">
            <a:avLst/>
          </a:prstGeom>
          <a:noFill/>
          <a:ln/>
        </p:spPr>
        <p:txBody>
          <a:bodyPr wrap="square" lIns="0" tIns="0" rIns="0" bIns="0" rtlCol="0" anchor="ctr"/>
          <a:lstStyle/>
          <a:p>
            <a:pPr marL="342900" indent="-342900">
              <a:buSzPct val="100000"/>
              <a:buChar char="●"/>
            </a:pPr>
            <a:r>
              <a:rPr lang="en-US" sz="1250" b="1" dirty="0">
                <a:solidFill>
                  <a:srgbClr val="225C38"/>
                </a:solidFill>
                <a:latin typeface="Calibri" pitchFamily="34" charset="0"/>
                <a:ea typeface="Calibri" pitchFamily="34" charset="-122"/>
                <a:cs typeface="Calibri" pitchFamily="34" charset="-120"/>
              </a:rPr>
              <a:t>BalanceSalaryRatio: </a:t>
            </a:r>
            <a:r>
              <a:rPr lang="en-US" sz="1250" dirty="0">
                <a:solidFill>
                  <a:srgbClr val="225C38"/>
                </a:solidFill>
                <a:latin typeface="Calibri" pitchFamily="34" charset="0"/>
                <a:ea typeface="Calibri" pitchFamily="34" charset="-122"/>
                <a:cs typeface="Calibri" pitchFamily="34" charset="-120"/>
              </a:rPr>
              <a:t>Relación financiera del peso del balance del cliente frente a su salario estimado.</a:t>
            </a:r>
            <a:endParaRPr lang="en-US" sz="1250" dirty="0"/>
          </a:p>
          <a:p>
            <a:pPr marL="0" indent="0">
              <a:buNone/>
            </a:pPr>
            <a:endParaRPr lang="en-US" sz="1250" dirty="0"/>
          </a:p>
          <a:p>
            <a:pPr marL="342900" indent="-342900">
              <a:buSzPct val="100000"/>
              <a:buChar char="●"/>
            </a:pPr>
            <a:r>
              <a:rPr lang="en-US" sz="1250" b="1" dirty="0">
                <a:solidFill>
                  <a:srgbClr val="225C38"/>
                </a:solidFill>
                <a:latin typeface="Calibri" pitchFamily="34" charset="0"/>
                <a:ea typeface="Calibri" pitchFamily="34" charset="-122"/>
                <a:cs typeface="Calibri" pitchFamily="34" charset="-120"/>
              </a:rPr>
              <a:t>NivelVinculacion: </a:t>
            </a:r>
            <a:r>
              <a:rPr lang="en-US" sz="1250" dirty="0">
                <a:solidFill>
                  <a:srgbClr val="225C38"/>
                </a:solidFill>
                <a:latin typeface="Calibri" pitchFamily="34" charset="0"/>
                <a:ea typeface="Calibri" pitchFamily="34" charset="-122"/>
                <a:cs typeface="Calibri" pitchFamily="34" charset="-120"/>
              </a:rPr>
              <a:t>Segmentación lógica (Alta/Media/Baja) determinada por número de productos contratados y estado </a:t>
            </a:r>
            <a:r>
              <a:rPr lang="en-US" sz="1250" dirty="0" err="1">
                <a:solidFill>
                  <a:srgbClr val="225C38"/>
                </a:solidFill>
                <a:latin typeface="Calibri" pitchFamily="34" charset="0"/>
                <a:ea typeface="Calibri" pitchFamily="34" charset="-122"/>
                <a:cs typeface="Calibri" pitchFamily="34" charset="-120"/>
              </a:rPr>
              <a:t>activo</a:t>
            </a:r>
            <a:r>
              <a:rPr lang="en-US" sz="1250" dirty="0">
                <a:solidFill>
                  <a:srgbClr val="225C38"/>
                </a:solidFill>
                <a:latin typeface="Calibri" pitchFamily="34" charset="0"/>
                <a:ea typeface="Calibri" pitchFamily="34" charset="-122"/>
                <a:cs typeface="Calibri" pitchFamily="34" charset="-120"/>
              </a:rPr>
              <a:t>.</a:t>
            </a:r>
          </a:p>
          <a:p>
            <a:pPr marL="342900" indent="-342900">
              <a:buSzPct val="100000"/>
              <a:buChar char="●"/>
            </a:pPr>
            <a:endParaRPr lang="en-US" sz="1250" b="1" dirty="0">
              <a:solidFill>
                <a:srgbClr val="225C38"/>
              </a:solidFill>
              <a:latin typeface="Calibri" pitchFamily="34" charset="0"/>
              <a:ea typeface="Calibri" pitchFamily="34" charset="-122"/>
              <a:cs typeface="Calibri" pitchFamily="34" charset="-120"/>
            </a:endParaRPr>
          </a:p>
          <a:p>
            <a:pPr marL="342900" indent="-342900">
              <a:buSzPct val="100000"/>
              <a:buChar char="●"/>
            </a:pPr>
            <a:r>
              <a:rPr lang="en-US" sz="1250" b="1" dirty="0">
                <a:solidFill>
                  <a:srgbClr val="225C38"/>
                </a:solidFill>
                <a:latin typeface="Calibri" pitchFamily="34" charset="0"/>
                <a:ea typeface="Calibri" pitchFamily="34" charset="-122"/>
                <a:cs typeface="Calibri" pitchFamily="34" charset="-120"/>
              </a:rPr>
              <a:t>VidaFinanciera: </a:t>
            </a:r>
            <a:r>
              <a:rPr lang="en-US" sz="1250" dirty="0">
                <a:solidFill>
                  <a:srgbClr val="225C38"/>
                </a:solidFill>
                <a:latin typeface="Calibri" pitchFamily="34" charset="0"/>
                <a:ea typeface="Calibri" pitchFamily="34" charset="-122"/>
                <a:cs typeface="Calibri" pitchFamily="34" charset="-120"/>
              </a:rPr>
              <a:t>Categorías robustas calculadas según percentil salarial cruzado con </a:t>
            </a:r>
            <a:r>
              <a:rPr lang="en-US" sz="1250" dirty="0" err="1">
                <a:solidFill>
                  <a:srgbClr val="225C38"/>
                </a:solidFill>
                <a:latin typeface="Calibri" pitchFamily="34" charset="0"/>
                <a:ea typeface="Calibri" pitchFamily="34" charset="-122"/>
                <a:cs typeface="Calibri" pitchFamily="34" charset="-120"/>
              </a:rPr>
              <a:t>género</a:t>
            </a:r>
            <a:r>
              <a:rPr lang="en-US" sz="1250" dirty="0">
                <a:solidFill>
                  <a:srgbClr val="225C38"/>
                </a:solidFill>
                <a:latin typeface="Calibri" pitchFamily="34" charset="0"/>
                <a:ea typeface="Calibri" pitchFamily="34" charset="-122"/>
                <a:cs typeface="Calibri" pitchFamily="34" charset="-12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66928"/>
          </a:xfrm>
          <a:prstGeom prst="rect">
            <a:avLst/>
          </a:prstGeom>
          <a:solidFill>
            <a:srgbClr val="4FB64B"/>
          </a:solidFill>
          <a:ln/>
        </p:spPr>
      </p:sp>
      <p:sp>
        <p:nvSpPr>
          <p:cNvPr id="3" name="Text 1"/>
          <p:cNvSpPr/>
          <p:nvPr/>
        </p:nvSpPr>
        <p:spPr>
          <a:xfrm>
            <a:off x="320040" y="320040"/>
            <a:ext cx="8686800" cy="594360"/>
          </a:xfrm>
          <a:prstGeom prst="rect">
            <a:avLst/>
          </a:prstGeom>
          <a:noFill/>
          <a:ln/>
        </p:spPr>
        <p:txBody>
          <a:bodyPr wrap="square" lIns="0" tIns="0" rIns="0" bIns="0" rtlCol="0" anchor="ctr"/>
          <a:lstStyle/>
          <a:p>
            <a:pPr marL="0" indent="0">
              <a:buNone/>
            </a:pPr>
            <a:r>
              <a:rPr lang="en-US" sz="3000" b="1" dirty="0">
                <a:solidFill>
                  <a:srgbClr val="2B2B2B"/>
                </a:solidFill>
                <a:latin typeface="Arial" pitchFamily="34" charset="0"/>
                <a:ea typeface="Arial" pitchFamily="34" charset="-122"/>
                <a:cs typeface="Arial" pitchFamily="34" charset="-120"/>
              </a:rPr>
              <a:t>Modelos y Selección</a:t>
            </a:r>
            <a:endParaRPr lang="en-US" sz="3000" dirty="0"/>
          </a:p>
        </p:txBody>
      </p:sp>
      <p:sp>
        <p:nvSpPr>
          <p:cNvPr id="4" name="Text 2"/>
          <p:cNvSpPr/>
          <p:nvPr/>
        </p:nvSpPr>
        <p:spPr>
          <a:xfrm>
            <a:off x="10728655" y="320040"/>
            <a:ext cx="1097280" cy="365760"/>
          </a:xfrm>
          <a:prstGeom prst="rect">
            <a:avLst/>
          </a:prstGeom>
          <a:noFill/>
          <a:ln/>
        </p:spPr>
        <p:txBody>
          <a:bodyPr wrap="square" lIns="0" tIns="0" rIns="0" bIns="0" rtlCol="0" anchor="ctr"/>
          <a:lstStyle/>
          <a:p>
            <a:pPr marL="0" indent="0" algn="r">
              <a:buNone/>
            </a:pPr>
            <a:r>
              <a:rPr lang="en-US" sz="1200" dirty="0">
                <a:solidFill>
                  <a:srgbClr val="9A9A9A"/>
                </a:solidFill>
                <a:latin typeface="Calibri" pitchFamily="34" charset="0"/>
                <a:ea typeface="Calibri" pitchFamily="34" charset="-122"/>
                <a:cs typeface="Calibri" pitchFamily="34" charset="-120"/>
              </a:rPr>
              <a:t>06 / 08</a:t>
            </a:r>
            <a:endParaRPr lang="en-US" sz="1200" dirty="0"/>
          </a:p>
        </p:txBody>
      </p:sp>
      <p:sp>
        <p:nvSpPr>
          <p:cNvPr id="5" name="Shape 3"/>
          <p:cNvSpPr/>
          <p:nvPr/>
        </p:nvSpPr>
        <p:spPr>
          <a:xfrm>
            <a:off x="548640" y="1371600"/>
            <a:ext cx="5349240" cy="2331720"/>
          </a:xfrm>
          <a:prstGeom prst="roundRect">
            <a:avLst>
              <a:gd name="adj" fmla="val 3137"/>
            </a:avLst>
          </a:prstGeom>
          <a:solidFill>
            <a:srgbClr val="F5F5F5"/>
          </a:solidFill>
          <a:ln/>
          <a:effectLst>
            <a:outerShdw blurRad="101600" dist="38100" dir="2700000" algn="bl" rotWithShape="0">
              <a:srgbClr val="000000">
                <a:alpha val="12000"/>
              </a:srgbClr>
            </a:outerShdw>
          </a:effectLst>
        </p:spPr>
      </p:sp>
      <p:pic>
        <p:nvPicPr>
          <p:cNvPr id="6" name="Image 0" descr="icons2/chart.png"/>
          <p:cNvPicPr>
            <a:picLocks noChangeAspect="1"/>
          </p:cNvPicPr>
          <p:nvPr/>
        </p:nvPicPr>
        <p:blipFill>
          <a:blip r:embed="rId3"/>
          <a:stretch>
            <a:fillRect/>
          </a:stretch>
        </p:blipFill>
        <p:spPr>
          <a:xfrm>
            <a:off x="868680" y="1600200"/>
            <a:ext cx="320040" cy="320040"/>
          </a:xfrm>
          <a:prstGeom prst="rect">
            <a:avLst/>
          </a:prstGeom>
        </p:spPr>
      </p:pic>
      <p:sp>
        <p:nvSpPr>
          <p:cNvPr id="7" name="Text 4"/>
          <p:cNvSpPr/>
          <p:nvPr/>
        </p:nvSpPr>
        <p:spPr>
          <a:xfrm>
            <a:off x="1280160" y="1572768"/>
            <a:ext cx="4389120" cy="365760"/>
          </a:xfrm>
          <a:prstGeom prst="rect">
            <a:avLst/>
          </a:prstGeom>
          <a:noFill/>
          <a:ln/>
        </p:spPr>
        <p:txBody>
          <a:bodyPr wrap="square" lIns="0" tIns="0" rIns="0" bIns="0" rtlCol="0" anchor="ctr"/>
          <a:lstStyle/>
          <a:p>
            <a:pPr marL="0" indent="0">
              <a:buNone/>
            </a:pPr>
            <a:r>
              <a:rPr lang="en-US" sz="1600" b="1" dirty="0">
                <a:solidFill>
                  <a:srgbClr val="2B2B2B"/>
                </a:solidFill>
                <a:latin typeface="Arial" pitchFamily="34" charset="0"/>
                <a:ea typeface="Arial" pitchFamily="34" charset="-122"/>
                <a:cs typeface="Arial" pitchFamily="34" charset="-120"/>
              </a:rPr>
              <a:t>Regresión Logística</a:t>
            </a:r>
            <a:endParaRPr lang="en-US" sz="1600" dirty="0"/>
          </a:p>
        </p:txBody>
      </p:sp>
      <p:sp>
        <p:nvSpPr>
          <p:cNvPr id="8" name="Text 5"/>
          <p:cNvSpPr/>
          <p:nvPr/>
        </p:nvSpPr>
        <p:spPr>
          <a:xfrm>
            <a:off x="868680" y="1965960"/>
            <a:ext cx="4846320" cy="320040"/>
          </a:xfrm>
          <a:prstGeom prst="rect">
            <a:avLst/>
          </a:prstGeom>
          <a:noFill/>
          <a:ln/>
        </p:spPr>
        <p:txBody>
          <a:bodyPr wrap="square" lIns="0" tIns="0" rIns="0" bIns="0"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Baseline interpretable de referencia</a:t>
            </a:r>
            <a:endParaRPr lang="en-US" sz="1200" dirty="0"/>
          </a:p>
        </p:txBody>
      </p:sp>
      <p:sp>
        <p:nvSpPr>
          <p:cNvPr id="9" name="Text 6"/>
          <p:cNvSpPr/>
          <p:nvPr/>
        </p:nvSpPr>
        <p:spPr>
          <a:xfrm>
            <a:off x="868680" y="2377440"/>
            <a:ext cx="4846320" cy="11887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Coeficientes matemáticos directos y fáciles de explicar al negocio.</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Limitación: Asume relaciones lineales exclusivamente.</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Ajustado usando class_weight='balanced'.</a:t>
            </a:r>
            <a:endParaRPr lang="en-US" sz="1300" dirty="0"/>
          </a:p>
        </p:txBody>
      </p:sp>
      <p:sp>
        <p:nvSpPr>
          <p:cNvPr id="10" name="Shape 7"/>
          <p:cNvSpPr/>
          <p:nvPr/>
        </p:nvSpPr>
        <p:spPr>
          <a:xfrm>
            <a:off x="6263640" y="1371600"/>
            <a:ext cx="5349240" cy="2331720"/>
          </a:xfrm>
          <a:prstGeom prst="roundRect">
            <a:avLst>
              <a:gd name="adj" fmla="val 3137"/>
            </a:avLst>
          </a:prstGeom>
          <a:solidFill>
            <a:srgbClr val="E9F3E8"/>
          </a:solidFill>
          <a:ln/>
          <a:effectLst>
            <a:outerShdw blurRad="101600" dist="38100" dir="2700000" algn="bl" rotWithShape="0">
              <a:srgbClr val="000000">
                <a:alpha val="12000"/>
              </a:srgbClr>
            </a:outerShdw>
          </a:effectLst>
        </p:spPr>
      </p:sp>
      <p:pic>
        <p:nvPicPr>
          <p:cNvPr id="11" name="Image 1" descr="icons2/star.png"/>
          <p:cNvPicPr>
            <a:picLocks noChangeAspect="1"/>
          </p:cNvPicPr>
          <p:nvPr/>
        </p:nvPicPr>
        <p:blipFill>
          <a:blip r:embed="rId4"/>
          <a:stretch>
            <a:fillRect/>
          </a:stretch>
        </p:blipFill>
        <p:spPr>
          <a:xfrm>
            <a:off x="6583680" y="1607586"/>
            <a:ext cx="320040" cy="305269"/>
          </a:xfrm>
          <a:prstGeom prst="rect">
            <a:avLst/>
          </a:prstGeom>
        </p:spPr>
      </p:pic>
      <p:sp>
        <p:nvSpPr>
          <p:cNvPr id="12" name="Text 8"/>
          <p:cNvSpPr/>
          <p:nvPr/>
        </p:nvSpPr>
        <p:spPr>
          <a:xfrm>
            <a:off x="6995160" y="1572768"/>
            <a:ext cx="4389120" cy="365760"/>
          </a:xfrm>
          <a:prstGeom prst="rect">
            <a:avLst/>
          </a:prstGeom>
          <a:noFill/>
          <a:ln/>
        </p:spPr>
        <p:txBody>
          <a:bodyPr wrap="square" lIns="0" tIns="0" rIns="0" bIns="0" rtlCol="0" anchor="ctr"/>
          <a:lstStyle/>
          <a:p>
            <a:pPr marL="0" indent="0">
              <a:buNone/>
            </a:pPr>
            <a:r>
              <a:rPr lang="en-US" sz="1600" b="1" dirty="0">
                <a:solidFill>
                  <a:srgbClr val="4FB64B"/>
                </a:solidFill>
                <a:latin typeface="Arial" pitchFamily="34" charset="0"/>
                <a:ea typeface="Arial" pitchFamily="34" charset="-122"/>
                <a:cs typeface="Arial" pitchFamily="34" charset="-120"/>
              </a:rPr>
              <a:t>Random Forest Selected</a:t>
            </a:r>
            <a:endParaRPr lang="en-US" sz="1600" dirty="0"/>
          </a:p>
        </p:txBody>
      </p:sp>
      <p:sp>
        <p:nvSpPr>
          <p:cNvPr id="13" name="Text 9"/>
          <p:cNvSpPr/>
          <p:nvPr/>
        </p:nvSpPr>
        <p:spPr>
          <a:xfrm>
            <a:off x="6583680" y="1965960"/>
            <a:ext cx="4846320" cy="320040"/>
          </a:xfrm>
          <a:prstGeom prst="rect">
            <a:avLst/>
          </a:prstGeom>
          <a:noFill/>
          <a:ln/>
        </p:spPr>
        <p:txBody>
          <a:bodyPr wrap="square" lIns="0" tIns="0" rIns="0" bIns="0" rtlCol="0" anchor="ctr"/>
          <a:lstStyle/>
          <a:p>
            <a:pPr marL="0" indent="0">
              <a:buNone/>
            </a:pPr>
            <a:r>
              <a:rPr lang="en-US" sz="1200" i="1" dirty="0">
                <a:solidFill>
                  <a:srgbClr val="3E8A5C"/>
                </a:solidFill>
                <a:latin typeface="Calibri" pitchFamily="34" charset="0"/>
                <a:ea typeface="Calibri" pitchFamily="34" charset="-122"/>
                <a:cs typeface="Calibri" pitchFamily="34" charset="-120"/>
              </a:rPr>
              <a:t>Mejor rendimiento predictivo comercial</a:t>
            </a:r>
            <a:endParaRPr lang="en-US" sz="1200" dirty="0"/>
          </a:p>
        </p:txBody>
      </p:sp>
      <p:sp>
        <p:nvSpPr>
          <p:cNvPr id="14" name="Text 10"/>
          <p:cNvSpPr/>
          <p:nvPr/>
        </p:nvSpPr>
        <p:spPr>
          <a:xfrm>
            <a:off x="6583680" y="2377440"/>
            <a:ext cx="4846320" cy="11887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25C38"/>
                </a:solidFill>
                <a:latin typeface="Calibri" pitchFamily="34" charset="0"/>
                <a:ea typeface="Calibri" pitchFamily="34" charset="-122"/>
                <a:cs typeface="Calibri" pitchFamily="34" charset="-120"/>
              </a:rPr>
              <a:t>200 árboles estructurados con un max_depth=10.</a:t>
            </a:r>
            <a:endParaRPr lang="en-US" sz="1300" dirty="0"/>
          </a:p>
          <a:p>
            <a:pPr marL="342900" indent="-342900">
              <a:spcAft>
                <a:spcPts val="600"/>
              </a:spcAft>
              <a:buSzPct val="100000"/>
              <a:buChar char="•"/>
            </a:pPr>
            <a:r>
              <a:rPr lang="en-US" sz="1300" dirty="0">
                <a:solidFill>
                  <a:srgbClr val="225C38"/>
                </a:solidFill>
                <a:latin typeface="Calibri" pitchFamily="34" charset="0"/>
                <a:ea typeface="Calibri" pitchFamily="34" charset="-122"/>
                <a:cs typeface="Calibri" pitchFamily="34" charset="-120"/>
              </a:rPr>
              <a:t>Captura de interacciones no lineales complejas entre variables.</a:t>
            </a:r>
            <a:endParaRPr lang="en-US" sz="1300" dirty="0"/>
          </a:p>
          <a:p>
            <a:pPr marL="342900" indent="-342900">
              <a:spcAft>
                <a:spcPts val="600"/>
              </a:spcAft>
              <a:buSzPct val="100000"/>
              <a:buChar char="•"/>
            </a:pPr>
            <a:r>
              <a:rPr lang="en-US" sz="1300" dirty="0">
                <a:solidFill>
                  <a:srgbClr val="225C38"/>
                </a:solidFill>
                <a:latin typeface="Calibri" pitchFamily="34" charset="0"/>
                <a:ea typeface="Calibri" pitchFamily="34" charset="-122"/>
                <a:cs typeface="Calibri" pitchFamily="34" charset="-120"/>
              </a:rPr>
              <a:t>Mayor métrica de AUC-ROC y recall balanceado global.</a:t>
            </a:r>
            <a:endParaRPr lang="en-US" sz="1300" dirty="0"/>
          </a:p>
        </p:txBody>
      </p:sp>
      <p:sp>
        <p:nvSpPr>
          <p:cNvPr id="15" name="Shape 11"/>
          <p:cNvSpPr/>
          <p:nvPr/>
        </p:nvSpPr>
        <p:spPr>
          <a:xfrm>
            <a:off x="548640" y="3977640"/>
            <a:ext cx="11064240" cy="1417320"/>
          </a:xfrm>
          <a:prstGeom prst="roundRect">
            <a:avLst>
              <a:gd name="adj" fmla="val 5161"/>
            </a:avLst>
          </a:prstGeom>
          <a:solidFill>
            <a:srgbClr val="F5F5F5"/>
          </a:solidFill>
          <a:ln/>
        </p:spPr>
      </p:sp>
      <p:pic>
        <p:nvPicPr>
          <p:cNvPr id="16" name="Image 2" descr="icons2/shield.png"/>
          <p:cNvPicPr>
            <a:picLocks noChangeAspect="1"/>
          </p:cNvPicPr>
          <p:nvPr/>
        </p:nvPicPr>
        <p:blipFill>
          <a:blip r:embed="rId5"/>
          <a:stretch>
            <a:fillRect/>
          </a:stretch>
        </p:blipFill>
        <p:spPr>
          <a:xfrm>
            <a:off x="849010" y="4133088"/>
            <a:ext cx="267940" cy="320040"/>
          </a:xfrm>
          <a:prstGeom prst="rect">
            <a:avLst/>
          </a:prstGeom>
        </p:spPr>
      </p:pic>
      <p:sp>
        <p:nvSpPr>
          <p:cNvPr id="17" name="Text 12"/>
          <p:cNvSpPr/>
          <p:nvPr/>
        </p:nvSpPr>
        <p:spPr>
          <a:xfrm>
            <a:off x="1234440" y="4114800"/>
            <a:ext cx="7315200" cy="365760"/>
          </a:xfrm>
          <a:prstGeom prst="rect">
            <a:avLst/>
          </a:prstGeom>
          <a:noFill/>
          <a:ln/>
        </p:spPr>
        <p:txBody>
          <a:bodyPr wrap="square" lIns="0" tIns="0" rIns="0" bIns="0" rtlCol="0" anchor="ctr"/>
          <a:lstStyle/>
          <a:p>
            <a:pPr marL="0" indent="0">
              <a:buNone/>
            </a:pPr>
            <a:r>
              <a:rPr lang="en-US" sz="1500" b="1" dirty="0">
                <a:solidFill>
                  <a:srgbClr val="2B2B2B"/>
                </a:solidFill>
                <a:latin typeface="Arial" pitchFamily="34" charset="0"/>
                <a:ea typeface="Arial" pitchFamily="34" charset="-122"/>
                <a:cs typeface="Arial" pitchFamily="34" charset="-120"/>
              </a:rPr>
              <a:t>Estrategia de Validación Robusta</a:t>
            </a:r>
            <a:endParaRPr lang="en-US" sz="1500" dirty="0"/>
          </a:p>
        </p:txBody>
      </p:sp>
      <p:sp>
        <p:nvSpPr>
          <p:cNvPr id="18" name="Text 13"/>
          <p:cNvSpPr/>
          <p:nvPr/>
        </p:nvSpPr>
        <p:spPr>
          <a:xfrm>
            <a:off x="822960" y="4526280"/>
            <a:ext cx="10424160" cy="82296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Split estratificado </a:t>
            </a:r>
            <a:r>
              <a:rPr lang="en-US" sz="1300" b="1" dirty="0">
                <a:solidFill>
                  <a:srgbClr val="2B2B2B"/>
                </a:solidFill>
                <a:latin typeface="Calibri" pitchFamily="34" charset="0"/>
                <a:ea typeface="Calibri" pitchFamily="34" charset="-122"/>
                <a:cs typeface="Calibri" pitchFamily="34" charset="-120"/>
              </a:rPr>
              <a:t>70 / 15 / 15 (Train/Val/Test) </a:t>
            </a:r>
            <a:r>
              <a:rPr lang="en-US" sz="1300" dirty="0">
                <a:solidFill>
                  <a:srgbClr val="2B2B2B"/>
                </a:solidFill>
                <a:latin typeface="Calibri" pitchFamily="34" charset="0"/>
                <a:ea typeface="Calibri" pitchFamily="34" charset="-122"/>
                <a:cs typeface="Calibri" pitchFamily="34" charset="-120"/>
              </a:rPr>
              <a:t>para conservar exactamente las proporciones de churn. Cross-validation de 5 folds para robustecer la evaluación de hiperparámetros. Escalado con StandardScaler ajustado </a:t>
            </a:r>
            <a:r>
              <a:rPr lang="en-US" sz="1300" i="1" dirty="0">
                <a:solidFill>
                  <a:srgbClr val="2B2B2B"/>
                </a:solidFill>
                <a:latin typeface="Calibri" pitchFamily="34" charset="0"/>
                <a:ea typeface="Calibri" pitchFamily="34" charset="-122"/>
                <a:cs typeface="Calibri" pitchFamily="34" charset="-120"/>
              </a:rPr>
              <a:t>exclusivamente </a:t>
            </a:r>
            <a:r>
              <a:rPr lang="en-US" sz="1300" dirty="0">
                <a:solidFill>
                  <a:srgbClr val="2B2B2B"/>
                </a:solidFill>
                <a:latin typeface="Calibri" pitchFamily="34" charset="0"/>
                <a:ea typeface="Calibri" pitchFamily="34" charset="-122"/>
                <a:cs typeface="Calibri" pitchFamily="34" charset="-120"/>
              </a:rPr>
              <a:t>en el set de Train para evitar cualquier tipo de data leakage.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66928"/>
          </a:xfrm>
          <a:prstGeom prst="rect">
            <a:avLst/>
          </a:prstGeom>
          <a:solidFill>
            <a:srgbClr val="4FB64B"/>
          </a:solidFill>
          <a:ln/>
        </p:spPr>
      </p:sp>
      <p:sp>
        <p:nvSpPr>
          <p:cNvPr id="3" name="Text 1"/>
          <p:cNvSpPr/>
          <p:nvPr/>
        </p:nvSpPr>
        <p:spPr>
          <a:xfrm>
            <a:off x="320040" y="320040"/>
            <a:ext cx="8686800" cy="594360"/>
          </a:xfrm>
          <a:prstGeom prst="rect">
            <a:avLst/>
          </a:prstGeom>
          <a:noFill/>
          <a:ln/>
        </p:spPr>
        <p:txBody>
          <a:bodyPr wrap="square" lIns="0" tIns="0" rIns="0" bIns="0" rtlCol="0" anchor="ctr"/>
          <a:lstStyle/>
          <a:p>
            <a:pPr marL="0" indent="0">
              <a:buNone/>
            </a:pPr>
            <a:r>
              <a:rPr lang="en-US" sz="3000" b="1" dirty="0">
                <a:solidFill>
                  <a:srgbClr val="2B2B2B"/>
                </a:solidFill>
                <a:latin typeface="Arial" pitchFamily="34" charset="0"/>
                <a:ea typeface="Arial" pitchFamily="34" charset="-122"/>
                <a:cs typeface="Arial" pitchFamily="34" charset="-120"/>
              </a:rPr>
              <a:t>Métricas y Decisión de Umbral</a:t>
            </a:r>
            <a:endParaRPr lang="en-US" sz="3000" dirty="0"/>
          </a:p>
        </p:txBody>
      </p:sp>
      <p:sp>
        <p:nvSpPr>
          <p:cNvPr id="4" name="Text 2"/>
          <p:cNvSpPr/>
          <p:nvPr/>
        </p:nvSpPr>
        <p:spPr>
          <a:xfrm>
            <a:off x="10728655" y="320040"/>
            <a:ext cx="1097280" cy="365760"/>
          </a:xfrm>
          <a:prstGeom prst="rect">
            <a:avLst/>
          </a:prstGeom>
          <a:noFill/>
          <a:ln/>
        </p:spPr>
        <p:txBody>
          <a:bodyPr wrap="square" lIns="0" tIns="0" rIns="0" bIns="0" rtlCol="0" anchor="ctr"/>
          <a:lstStyle/>
          <a:p>
            <a:pPr marL="0" indent="0" algn="r">
              <a:buNone/>
            </a:pPr>
            <a:r>
              <a:rPr lang="en-US" sz="1200" dirty="0">
                <a:solidFill>
                  <a:srgbClr val="9A9A9A"/>
                </a:solidFill>
                <a:latin typeface="Calibri" pitchFamily="34" charset="0"/>
                <a:ea typeface="Calibri" pitchFamily="34" charset="-122"/>
                <a:cs typeface="Calibri" pitchFamily="34" charset="-120"/>
              </a:rPr>
              <a:t>07 / 08</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2286000"/>
        </p:xfrm>
        <a:graphic>
          <a:graphicData uri="http://schemas.openxmlformats.org/drawingml/2006/table">
            <a:tbl>
              <a:tblPr/>
              <a:tblGrid>
                <a:gridCol w="3108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rPr>
                        <a:t>Métrica de Rendimiento</a:t>
                      </a:r>
                      <a:endParaRPr lang="en-US" sz="130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FB64B"/>
                    </a:solidFill>
                  </a:tcPr>
                </a:tc>
                <a:tc>
                  <a:txBody>
                    <a:bodyPr/>
                    <a:lstStyle/>
                    <a:p>
                      <a:pPr marL="0" indent="0">
                        <a:buNone/>
                      </a:pPr>
                      <a:r>
                        <a:rPr lang="en-US" sz="1300" b="1" dirty="0">
                          <a:solidFill>
                            <a:srgbClr val="FFFFFF"/>
                          </a:solidFill>
                        </a:rPr>
                        <a:t>Valor Obtenido</a:t>
                      </a:r>
                      <a:endParaRPr lang="en-US" sz="130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FB64B"/>
                    </a:solidFill>
                  </a:tcPr>
                </a:tc>
                <a:tc>
                  <a:txBody>
                    <a:bodyPr/>
                    <a:lstStyle/>
                    <a:p>
                      <a:pPr marL="0" indent="0">
                        <a:buNone/>
                      </a:pPr>
                      <a:r>
                        <a:rPr lang="en-US" sz="1300" b="1" dirty="0">
                          <a:solidFill>
                            <a:srgbClr val="FFFFFF"/>
                          </a:solidFill>
                        </a:rPr>
                        <a:t>Interpretación de Negocio y Data</a:t>
                      </a:r>
                      <a:endParaRPr lang="en-US" sz="130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FB64B"/>
                    </a:solidFill>
                  </a:tcPr>
                </a:tc>
                <a:extLst>
                  <a:ext uri="{0D108BD9-81ED-4DB2-BD59-A6C34878D82A}">
                    <a16:rowId xmlns:a16="http://schemas.microsoft.com/office/drawing/2014/main" val="10000"/>
                  </a:ext>
                </a:extLst>
              </a:tr>
              <a:tr h="457200">
                <a:tc>
                  <a:txBody>
                    <a:bodyPr/>
                    <a:lstStyle/>
                    <a:p>
                      <a:pPr marL="0" indent="0">
                        <a:buNone/>
                      </a:pPr>
                      <a:r>
                        <a:rPr lang="en-US" sz="1250" dirty="0">
                          <a:solidFill>
                            <a:srgbClr val="2B2B2B"/>
                          </a:solidFill>
                        </a:rPr>
                        <a:t>AUC-ROC</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b="1" dirty="0">
                          <a:solidFill>
                            <a:srgbClr val="4FB64B"/>
                          </a:solidFill>
                        </a:rPr>
                        <a:t>0.86</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dirty="0">
                          <a:solidFill>
                            <a:srgbClr val="2B2B2B"/>
                          </a:solidFill>
                        </a:rPr>
                        <a:t>Excelente capacidad para separar a los desertores de los retenibles.</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50" dirty="0">
                          <a:solidFill>
                            <a:srgbClr val="2B2B2B"/>
                          </a:solidFill>
                        </a:rPr>
                        <a:t>Kolmogorov-Smirnov (KS)</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b="1" dirty="0">
                          <a:solidFill>
                            <a:srgbClr val="4FB64B"/>
                          </a:solidFill>
                        </a:rPr>
                        <a:t>&gt; 0.40</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dirty="0">
                          <a:solidFill>
                            <a:srgbClr val="2B2B2B"/>
                          </a:solidFill>
                        </a:rPr>
                        <a:t>Nivel de discriminación sumamente aceptable para estándares bancarios.</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50" dirty="0">
                          <a:solidFill>
                            <a:srgbClr val="2B2B2B"/>
                          </a:solidFill>
                        </a:rPr>
                        <a:t>Recall (con umbral optimizado a 0.3)</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b="1" dirty="0">
                          <a:solidFill>
                            <a:srgbClr val="4FB64B"/>
                          </a:solidFill>
                        </a:rPr>
                        <a:t>~75%</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dirty="0">
                          <a:solidFill>
                            <a:srgbClr val="2B2B2B"/>
                          </a:solidFill>
                        </a:rPr>
                        <a:t>Detecta de forma efectiva a 3 de cada 4 clientes en riesgo real de fuga.</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50" dirty="0">
                          <a:solidFill>
                            <a:srgbClr val="2B2B2B"/>
                          </a:solidFill>
                        </a:rPr>
                        <a:t>Population Stability Index (PSI)</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b="1" dirty="0">
                          <a:solidFill>
                            <a:srgbClr val="4FB64B"/>
                          </a:solidFill>
                        </a:rPr>
                        <a:t>&lt; 0.10</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250" dirty="0">
                          <a:solidFill>
                            <a:srgbClr val="2B2B2B"/>
                          </a:solidFill>
                        </a:rPr>
                        <a:t>Modelo estadísticamente estable y libre de data drift a corto plazo.</a:t>
                      </a:r>
                      <a:endParaRPr lang="en-US" sz="1250" dirty="0"/>
                    </a:p>
                  </a:txBody>
                  <a:tcPr marL="101600" marR="101600" marT="76200" marB="7620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548640" y="3794760"/>
            <a:ext cx="11064240" cy="2286000"/>
          </a:xfrm>
          <a:prstGeom prst="roundRect">
            <a:avLst>
              <a:gd name="adj" fmla="val 3200"/>
            </a:avLst>
          </a:prstGeom>
          <a:solidFill>
            <a:srgbClr val="E9F3E8"/>
          </a:solidFill>
          <a:ln/>
        </p:spPr>
      </p:sp>
      <p:pic>
        <p:nvPicPr>
          <p:cNvPr id="7" name="Image 0" descr="icons2/balance.png"/>
          <p:cNvPicPr>
            <a:picLocks noChangeAspect="1"/>
          </p:cNvPicPr>
          <p:nvPr/>
        </p:nvPicPr>
        <p:blipFill>
          <a:blip r:embed="rId3"/>
          <a:stretch>
            <a:fillRect/>
          </a:stretch>
        </p:blipFill>
        <p:spPr>
          <a:xfrm>
            <a:off x="822960" y="3982564"/>
            <a:ext cx="320040" cy="310193"/>
          </a:xfrm>
          <a:prstGeom prst="rect">
            <a:avLst/>
          </a:prstGeom>
        </p:spPr>
      </p:pic>
      <p:sp>
        <p:nvSpPr>
          <p:cNvPr id="5" name="Text 4"/>
          <p:cNvSpPr/>
          <p:nvPr/>
        </p:nvSpPr>
        <p:spPr>
          <a:xfrm>
            <a:off x="1234440" y="3950208"/>
            <a:ext cx="9144000" cy="365760"/>
          </a:xfrm>
          <a:prstGeom prst="rect">
            <a:avLst/>
          </a:prstGeom>
          <a:noFill/>
          <a:ln/>
        </p:spPr>
        <p:txBody>
          <a:bodyPr wrap="square" lIns="0" tIns="0" rIns="0" bIns="0" rtlCol="0" anchor="ctr"/>
          <a:lstStyle/>
          <a:p>
            <a:pPr marL="0" indent="0">
              <a:buNone/>
            </a:pPr>
            <a:r>
              <a:rPr lang="en-US" sz="1500" b="1" dirty="0">
                <a:solidFill>
                  <a:srgbClr val="4FB64B"/>
                </a:solidFill>
                <a:latin typeface="Arial" pitchFamily="34" charset="0"/>
                <a:ea typeface="Arial" pitchFamily="34" charset="-122"/>
                <a:cs typeface="Arial" pitchFamily="34" charset="-120"/>
              </a:rPr>
              <a:t>Decisión de Umbral de Clasificación Optimizado a 0.3</a:t>
            </a:r>
            <a:endParaRPr lang="en-US" sz="1500" dirty="0"/>
          </a:p>
        </p:txBody>
      </p:sp>
      <p:sp>
        <p:nvSpPr>
          <p:cNvPr id="9" name="Text 5"/>
          <p:cNvSpPr/>
          <p:nvPr/>
        </p:nvSpPr>
        <p:spPr>
          <a:xfrm>
            <a:off x="822960" y="4370832"/>
            <a:ext cx="10424160" cy="7772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225C38"/>
                </a:solidFill>
                <a:latin typeface="Calibri" pitchFamily="34" charset="0"/>
                <a:ea typeface="Calibri" pitchFamily="34" charset="-122"/>
                <a:cs typeface="Calibri" pitchFamily="34" charset="-120"/>
              </a:rPr>
              <a:t>Falso Negativo (no detectar churn) → Pérdida directa del cliente → </a:t>
            </a:r>
            <a:r>
              <a:rPr lang="en-US" sz="1300" b="1" dirty="0">
                <a:solidFill>
                  <a:srgbClr val="E6493C"/>
                </a:solidFill>
                <a:latin typeface="Calibri" pitchFamily="34" charset="0"/>
                <a:ea typeface="Calibri" pitchFamily="34" charset="-122"/>
                <a:cs typeface="Calibri" pitchFamily="34" charset="-120"/>
              </a:rPr>
              <a:t>$500 USD en costos</a:t>
            </a:r>
            <a:endParaRPr lang="en-US" sz="1300" dirty="0"/>
          </a:p>
          <a:p>
            <a:pPr marL="0" indent="0">
              <a:spcAft>
                <a:spcPts val="400"/>
              </a:spcAft>
              <a:buNone/>
            </a:pPr>
            <a:r>
              <a:rPr lang="en-US" sz="1300" dirty="0">
                <a:solidFill>
                  <a:srgbClr val="225C38"/>
                </a:solidFill>
                <a:latin typeface="Calibri" pitchFamily="34" charset="0"/>
                <a:ea typeface="Calibri" pitchFamily="34" charset="-122"/>
                <a:cs typeface="Calibri" pitchFamily="34" charset="-120"/>
              </a:rPr>
              <a:t>Falso Positivo (acción de retención innecesaria) → Campaña adicional → </a:t>
            </a:r>
            <a:r>
              <a:rPr lang="en-US" sz="1300" b="1" dirty="0">
                <a:solidFill>
                  <a:srgbClr val="4FB64B"/>
                </a:solidFill>
                <a:latin typeface="Calibri" pitchFamily="34" charset="0"/>
                <a:ea typeface="Calibri" pitchFamily="34" charset="-122"/>
                <a:cs typeface="Calibri" pitchFamily="34" charset="-120"/>
              </a:rPr>
              <a:t>$80 USD de costo</a:t>
            </a:r>
            <a:endParaRPr lang="en-US" sz="1300" dirty="0"/>
          </a:p>
        </p:txBody>
      </p:sp>
      <p:sp>
        <p:nvSpPr>
          <p:cNvPr id="10" name="Text 6"/>
          <p:cNvSpPr/>
          <p:nvPr/>
        </p:nvSpPr>
        <p:spPr>
          <a:xfrm>
            <a:off x="822960" y="5166360"/>
            <a:ext cx="10424160" cy="822960"/>
          </a:xfrm>
          <a:prstGeom prst="rect">
            <a:avLst/>
          </a:prstGeom>
          <a:noFill/>
          <a:ln/>
        </p:spPr>
        <p:txBody>
          <a:bodyPr wrap="square" lIns="0" tIns="0" rIns="0" bIns="0" rtlCol="0" anchor="ctr"/>
          <a:lstStyle/>
          <a:p>
            <a:pPr marL="0" indent="0">
              <a:buNone/>
            </a:pPr>
            <a:r>
              <a:rPr lang="en-US" sz="1300" dirty="0">
                <a:solidFill>
                  <a:srgbClr val="225C38"/>
                </a:solidFill>
                <a:latin typeface="Calibri" pitchFamily="34" charset="0"/>
                <a:ea typeface="Calibri" pitchFamily="34" charset="-122"/>
                <a:cs typeface="Calibri" pitchFamily="34" charset="-120"/>
              </a:rPr>
              <a:t>Dado que perder un cliente es </a:t>
            </a:r>
            <a:r>
              <a:rPr lang="en-US" sz="1300" b="1" dirty="0">
                <a:solidFill>
                  <a:srgbClr val="225C38"/>
                </a:solidFill>
                <a:latin typeface="Calibri" pitchFamily="34" charset="0"/>
                <a:ea typeface="Calibri" pitchFamily="34" charset="-122"/>
                <a:cs typeface="Calibri" pitchFamily="34" charset="-120"/>
              </a:rPr>
              <a:t>6x más costoso </a:t>
            </a:r>
            <a:r>
              <a:rPr lang="en-US" sz="1300" dirty="0">
                <a:solidFill>
                  <a:srgbClr val="225C38"/>
                </a:solidFill>
                <a:latin typeface="Calibri" pitchFamily="34" charset="0"/>
                <a:ea typeface="Calibri" pitchFamily="34" charset="-122"/>
                <a:cs typeface="Calibri" pitchFamily="34" charset="-120"/>
              </a:rPr>
              <a:t>que una retención, bajamos conscientemente el umbral predictivo de 0.5 a 0.3 para maximizar el Recall. Esto captura un mayor volumen de desertores asumiendo costes menores de falsos positivos.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D3D3D"/>
        </a:solidFill>
        <a:effectLst/>
      </p:bgPr>
    </p:bg>
    <p:spTree>
      <p:nvGrpSpPr>
        <p:cNvPr id="1" name=""/>
        <p:cNvGrpSpPr/>
        <p:nvPr/>
      </p:nvGrpSpPr>
      <p:grpSpPr>
        <a:xfrm>
          <a:off x="0" y="0"/>
          <a:ext cx="0" cy="0"/>
          <a:chOff x="0" y="0"/>
          <a:chExt cx="0" cy="0"/>
        </a:xfrm>
      </p:grpSpPr>
      <p:sp>
        <p:nvSpPr>
          <p:cNvPr id="2" name="Shape 0"/>
          <p:cNvSpPr/>
          <p:nvPr/>
        </p:nvSpPr>
        <p:spPr>
          <a:xfrm>
            <a:off x="0" y="0"/>
            <a:ext cx="128016" cy="566928"/>
          </a:xfrm>
          <a:prstGeom prst="rect">
            <a:avLst/>
          </a:prstGeom>
          <a:solidFill>
            <a:srgbClr val="4FB64B"/>
          </a:solidFill>
          <a:ln/>
        </p:spPr>
      </p:sp>
      <p:sp>
        <p:nvSpPr>
          <p:cNvPr id="3" name="Text 1"/>
          <p:cNvSpPr/>
          <p:nvPr/>
        </p:nvSpPr>
        <p:spPr>
          <a:xfrm>
            <a:off x="320040" y="320040"/>
            <a:ext cx="8686800" cy="5943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Recomendaciones y Próximos Pasos</a:t>
            </a:r>
            <a:endParaRPr lang="en-US" sz="3000" dirty="0"/>
          </a:p>
        </p:txBody>
      </p:sp>
      <p:sp>
        <p:nvSpPr>
          <p:cNvPr id="4" name="Text 2"/>
          <p:cNvSpPr/>
          <p:nvPr/>
        </p:nvSpPr>
        <p:spPr>
          <a:xfrm>
            <a:off x="10728655" y="320040"/>
            <a:ext cx="1097280" cy="365760"/>
          </a:xfrm>
          <a:prstGeom prst="rect">
            <a:avLst/>
          </a:prstGeom>
          <a:noFill/>
          <a:ln/>
        </p:spPr>
        <p:txBody>
          <a:bodyPr wrap="square" lIns="0" tIns="0" rIns="0" bIns="0" rtlCol="0" anchor="ctr"/>
          <a:lstStyle/>
          <a:p>
            <a:pPr marL="0" indent="0" algn="r">
              <a:buNone/>
            </a:pPr>
            <a:r>
              <a:rPr lang="en-US" sz="1200" dirty="0">
                <a:solidFill>
                  <a:srgbClr val="BBBBBB"/>
                </a:solidFill>
                <a:latin typeface="Calibri" pitchFamily="34" charset="0"/>
                <a:ea typeface="Calibri" pitchFamily="34" charset="-122"/>
                <a:cs typeface="Calibri" pitchFamily="34" charset="-120"/>
              </a:rPr>
              <a:t>08 / 08</a:t>
            </a:r>
            <a:endParaRPr lang="en-US" sz="1200" dirty="0"/>
          </a:p>
        </p:txBody>
      </p:sp>
      <p:sp>
        <p:nvSpPr>
          <p:cNvPr id="5" name="Shape 3"/>
          <p:cNvSpPr/>
          <p:nvPr/>
        </p:nvSpPr>
        <p:spPr>
          <a:xfrm>
            <a:off x="548640" y="1371600"/>
            <a:ext cx="3566160" cy="4754880"/>
          </a:xfrm>
          <a:prstGeom prst="roundRect">
            <a:avLst>
              <a:gd name="adj" fmla="val 2051"/>
            </a:avLst>
          </a:prstGeom>
          <a:solidFill>
            <a:srgbClr val="4A4A4A"/>
          </a:solidFill>
          <a:ln/>
        </p:spPr>
      </p:sp>
      <p:pic>
        <p:nvPicPr>
          <p:cNvPr id="6" name="Image 0" descr="icons2/users.png"/>
          <p:cNvPicPr>
            <a:picLocks noChangeAspect="1"/>
          </p:cNvPicPr>
          <p:nvPr/>
        </p:nvPicPr>
        <p:blipFill>
          <a:blip r:embed="rId3"/>
          <a:stretch>
            <a:fillRect/>
          </a:stretch>
        </p:blipFill>
        <p:spPr>
          <a:xfrm>
            <a:off x="2103120" y="1685792"/>
            <a:ext cx="457200" cy="377456"/>
          </a:xfrm>
          <a:prstGeom prst="rect">
            <a:avLst/>
          </a:prstGeom>
        </p:spPr>
      </p:pic>
      <p:sp>
        <p:nvSpPr>
          <p:cNvPr id="7" name="Text 4"/>
          <p:cNvSpPr/>
          <p:nvPr/>
        </p:nvSpPr>
        <p:spPr>
          <a:xfrm>
            <a:off x="548640" y="2240280"/>
            <a:ext cx="3566160" cy="411480"/>
          </a:xfrm>
          <a:prstGeom prst="rect">
            <a:avLst/>
          </a:prstGeom>
          <a:noFill/>
          <a:ln/>
        </p:spPr>
        <p:txBody>
          <a:bodyPr wrap="square" lIns="0" tIns="0" rIns="0" bIns="0" rtlCol="0" anchor="ctr"/>
          <a:lstStyle/>
          <a:p>
            <a:pPr marL="0" indent="0" algn="ctr">
              <a:buNone/>
            </a:pPr>
            <a:r>
              <a:rPr lang="en-US" sz="1700" b="1" dirty="0">
                <a:solidFill>
                  <a:srgbClr val="4FB64B"/>
                </a:solidFill>
                <a:latin typeface="Arial" pitchFamily="34" charset="0"/>
                <a:ea typeface="Arial" pitchFamily="34" charset="-122"/>
                <a:cs typeface="Arial" pitchFamily="34" charset="-120"/>
              </a:rPr>
              <a:t>Segmentos</a:t>
            </a:r>
            <a:endParaRPr lang="en-US" sz="1700" dirty="0"/>
          </a:p>
        </p:txBody>
      </p:sp>
      <p:sp>
        <p:nvSpPr>
          <p:cNvPr id="8" name="Text 5"/>
          <p:cNvSpPr/>
          <p:nvPr/>
        </p:nvSpPr>
        <p:spPr>
          <a:xfrm>
            <a:off x="822960" y="2788920"/>
            <a:ext cx="3017520" cy="3108960"/>
          </a:xfrm>
          <a:prstGeom prst="rect">
            <a:avLst/>
          </a:prstGeom>
          <a:noFill/>
          <a:ln/>
        </p:spPr>
        <p:txBody>
          <a:bodyPr wrap="square" lIns="0" tIns="0" rIns="0" bIns="0" rtlCol="0" anchor="ctr"/>
          <a:lstStyle/>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Alemania + 45 años + Inactivos: </a:t>
            </a:r>
            <a:r>
              <a:rPr lang="en-US" sz="1200" dirty="0">
                <a:solidFill>
                  <a:srgbClr val="D8D8D8"/>
                </a:solidFill>
                <a:latin typeface="Calibri" pitchFamily="34" charset="0"/>
                <a:ea typeface="Calibri" pitchFamily="34" charset="-122"/>
                <a:cs typeface="Calibri" pitchFamily="34" charset="-120"/>
              </a:rPr>
              <a:t>Contacto proactivo prioritario a través del asesor asignado.</a:t>
            </a:r>
            <a:endParaRPr lang="en-US" sz="1200" dirty="0"/>
          </a:p>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1 Producto + Saldo Alto: </a:t>
            </a:r>
            <a:r>
              <a:rPr lang="en-US" sz="1200" dirty="0">
                <a:solidFill>
                  <a:srgbClr val="D8D8D8"/>
                </a:solidFill>
                <a:latin typeface="Calibri" pitchFamily="34" charset="0"/>
                <a:ea typeface="Calibri" pitchFamily="34" charset="-122"/>
                <a:cs typeface="Calibri" pitchFamily="34" charset="-120"/>
              </a:rPr>
              <a:t>Estrategia cross-sell enfocada (seguros, cuentas de ahorro).</a:t>
            </a:r>
            <a:endParaRPr lang="en-US" sz="1200" dirty="0"/>
          </a:p>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3+ Productos Inactivos: </a:t>
            </a:r>
            <a:r>
              <a:rPr lang="en-US" sz="1200" dirty="0">
                <a:solidFill>
                  <a:srgbClr val="D8D8D8"/>
                </a:solidFill>
                <a:latin typeface="Calibri" pitchFamily="34" charset="0"/>
                <a:ea typeface="Calibri" pitchFamily="34" charset="-122"/>
                <a:cs typeface="Calibri" pitchFamily="34" charset="-120"/>
              </a:rPr>
              <a:t>Programas de reactivación enfocados en un beneficio de tasa tangible.</a:t>
            </a:r>
            <a:endParaRPr lang="en-US" sz="1200" dirty="0"/>
          </a:p>
        </p:txBody>
      </p:sp>
      <p:sp>
        <p:nvSpPr>
          <p:cNvPr id="9" name="Shape 6"/>
          <p:cNvSpPr/>
          <p:nvPr/>
        </p:nvSpPr>
        <p:spPr>
          <a:xfrm>
            <a:off x="4297680" y="1371600"/>
            <a:ext cx="3566160" cy="4754880"/>
          </a:xfrm>
          <a:prstGeom prst="roundRect">
            <a:avLst>
              <a:gd name="adj" fmla="val 2051"/>
            </a:avLst>
          </a:prstGeom>
          <a:solidFill>
            <a:srgbClr val="4A4A4A"/>
          </a:solidFill>
          <a:ln/>
        </p:spPr>
      </p:sp>
      <p:pic>
        <p:nvPicPr>
          <p:cNvPr id="10" name="Image 1" descr="icons2/rocket.png"/>
          <p:cNvPicPr>
            <a:picLocks noChangeAspect="1"/>
          </p:cNvPicPr>
          <p:nvPr/>
        </p:nvPicPr>
        <p:blipFill>
          <a:blip r:embed="rId4"/>
          <a:stretch>
            <a:fillRect/>
          </a:stretch>
        </p:blipFill>
        <p:spPr>
          <a:xfrm>
            <a:off x="5853918" y="1645920"/>
            <a:ext cx="453683" cy="457200"/>
          </a:xfrm>
          <a:prstGeom prst="rect">
            <a:avLst/>
          </a:prstGeom>
        </p:spPr>
      </p:pic>
      <p:sp>
        <p:nvSpPr>
          <p:cNvPr id="11" name="Text 7"/>
          <p:cNvSpPr/>
          <p:nvPr/>
        </p:nvSpPr>
        <p:spPr>
          <a:xfrm>
            <a:off x="4297680" y="2240280"/>
            <a:ext cx="3566160" cy="411480"/>
          </a:xfrm>
          <a:prstGeom prst="rect">
            <a:avLst/>
          </a:prstGeom>
          <a:noFill/>
          <a:ln/>
        </p:spPr>
        <p:txBody>
          <a:bodyPr wrap="square" lIns="0" tIns="0" rIns="0" bIns="0" rtlCol="0" anchor="ctr"/>
          <a:lstStyle/>
          <a:p>
            <a:pPr marL="0" indent="0" algn="ctr">
              <a:buNone/>
            </a:pPr>
            <a:r>
              <a:rPr lang="en-US" sz="1700" b="1" dirty="0">
                <a:solidFill>
                  <a:srgbClr val="4FB64B"/>
                </a:solidFill>
                <a:latin typeface="Arial" pitchFamily="34" charset="0"/>
                <a:ea typeface="Arial" pitchFamily="34" charset="-122"/>
                <a:cs typeface="Arial" pitchFamily="34" charset="-120"/>
              </a:rPr>
              <a:t>Acciones</a:t>
            </a:r>
            <a:endParaRPr lang="en-US" sz="1700" dirty="0"/>
          </a:p>
        </p:txBody>
      </p:sp>
      <p:sp>
        <p:nvSpPr>
          <p:cNvPr id="12" name="Text 8"/>
          <p:cNvSpPr/>
          <p:nvPr/>
        </p:nvSpPr>
        <p:spPr>
          <a:xfrm>
            <a:off x="4572000" y="2788920"/>
            <a:ext cx="3017520" cy="3108960"/>
          </a:xfrm>
          <a:prstGeom prst="rect">
            <a:avLst/>
          </a:prstGeom>
          <a:noFill/>
          <a:ln/>
        </p:spPr>
        <p:txBody>
          <a:bodyPr wrap="square" lIns="0" tIns="0" rIns="0" bIns="0" rtlCol="0" anchor="ctr"/>
          <a:lstStyle/>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Alerta Automatizada en CRM: </a:t>
            </a:r>
            <a:r>
              <a:rPr lang="en-US" sz="1200" dirty="0">
                <a:solidFill>
                  <a:srgbClr val="D8D8D8"/>
                </a:solidFill>
                <a:latin typeface="Calibri" pitchFamily="34" charset="0"/>
                <a:ea typeface="Calibri" pitchFamily="34" charset="-122"/>
                <a:cs typeface="Calibri" pitchFamily="34" charset="-120"/>
              </a:rPr>
              <a:t>Generación de ticket cuando la prob. ≥ 0.3, ejecutando llamada en &lt; 48h.</a:t>
            </a:r>
            <a:endParaRPr lang="en-US" sz="1200" dirty="0"/>
          </a:p>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Activación Digital: </a:t>
            </a:r>
            <a:r>
              <a:rPr lang="en-US" sz="1200" dirty="0">
                <a:solidFill>
                  <a:srgbClr val="D8D8D8"/>
                </a:solidFill>
                <a:latin typeface="Calibri" pitchFamily="34" charset="0"/>
                <a:ea typeface="Calibri" pitchFamily="34" charset="-122"/>
                <a:cs typeface="Calibri" pitchFamily="34" charset="-120"/>
              </a:rPr>
              <a:t>Programas de email marketing y SMS personalizados con incentivos de tasa.</a:t>
            </a:r>
            <a:endParaRPr lang="en-US" sz="1200" dirty="0"/>
          </a:p>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Impacto Estimado: </a:t>
            </a:r>
            <a:r>
              <a:rPr lang="en-US" sz="1200" dirty="0">
                <a:solidFill>
                  <a:srgbClr val="D8D8D8"/>
                </a:solidFill>
                <a:latin typeface="Calibri" pitchFamily="34" charset="0"/>
                <a:ea typeface="Calibri" pitchFamily="34" charset="-122"/>
                <a:cs typeface="Calibri" pitchFamily="34" charset="-120"/>
              </a:rPr>
              <a:t>Retorno financiero estimado de ~$21,000 USD en costos evitados.</a:t>
            </a:r>
            <a:endParaRPr lang="en-US" sz="1200" dirty="0"/>
          </a:p>
        </p:txBody>
      </p:sp>
      <p:sp>
        <p:nvSpPr>
          <p:cNvPr id="13" name="Shape 9"/>
          <p:cNvSpPr/>
          <p:nvPr/>
        </p:nvSpPr>
        <p:spPr>
          <a:xfrm>
            <a:off x="8046720" y="1371600"/>
            <a:ext cx="3566160" cy="4754880"/>
          </a:xfrm>
          <a:prstGeom prst="roundRect">
            <a:avLst>
              <a:gd name="adj" fmla="val 2051"/>
            </a:avLst>
          </a:prstGeom>
          <a:solidFill>
            <a:srgbClr val="4A4A4A"/>
          </a:solidFill>
          <a:ln/>
        </p:spPr>
      </p:sp>
      <p:pic>
        <p:nvPicPr>
          <p:cNvPr id="14" name="Image 2" descr="icons2/shield.png"/>
          <p:cNvPicPr>
            <a:picLocks noChangeAspect="1"/>
          </p:cNvPicPr>
          <p:nvPr/>
        </p:nvPicPr>
        <p:blipFill>
          <a:blip r:embed="rId5"/>
          <a:stretch>
            <a:fillRect/>
          </a:stretch>
        </p:blipFill>
        <p:spPr>
          <a:xfrm>
            <a:off x="9638414" y="1645920"/>
            <a:ext cx="382772" cy="457200"/>
          </a:xfrm>
          <a:prstGeom prst="rect">
            <a:avLst/>
          </a:prstGeom>
        </p:spPr>
      </p:pic>
      <p:sp>
        <p:nvSpPr>
          <p:cNvPr id="15" name="Text 10"/>
          <p:cNvSpPr/>
          <p:nvPr/>
        </p:nvSpPr>
        <p:spPr>
          <a:xfrm>
            <a:off x="8046720" y="2240280"/>
            <a:ext cx="3566160" cy="411480"/>
          </a:xfrm>
          <a:prstGeom prst="rect">
            <a:avLst/>
          </a:prstGeom>
          <a:noFill/>
          <a:ln/>
        </p:spPr>
        <p:txBody>
          <a:bodyPr wrap="square" lIns="0" tIns="0" rIns="0" bIns="0" rtlCol="0" anchor="ctr"/>
          <a:lstStyle/>
          <a:p>
            <a:pPr marL="0" indent="0" algn="ctr">
              <a:buNone/>
            </a:pPr>
            <a:r>
              <a:rPr lang="en-US" sz="1700" b="1" dirty="0">
                <a:solidFill>
                  <a:srgbClr val="4FB64B"/>
                </a:solidFill>
                <a:latin typeface="Arial" pitchFamily="34" charset="0"/>
                <a:ea typeface="Arial" pitchFamily="34" charset="-122"/>
                <a:cs typeface="Arial" pitchFamily="34" charset="-120"/>
              </a:rPr>
              <a:t>Próximos Pasos</a:t>
            </a:r>
            <a:endParaRPr lang="en-US" sz="1700" dirty="0"/>
          </a:p>
        </p:txBody>
      </p:sp>
      <p:sp>
        <p:nvSpPr>
          <p:cNvPr id="16" name="Text 11"/>
          <p:cNvSpPr/>
          <p:nvPr/>
        </p:nvSpPr>
        <p:spPr>
          <a:xfrm>
            <a:off x="8321040" y="2788920"/>
            <a:ext cx="3017520" cy="3108960"/>
          </a:xfrm>
          <a:prstGeom prst="rect">
            <a:avLst/>
          </a:prstGeom>
          <a:noFill/>
          <a:ln/>
        </p:spPr>
        <p:txBody>
          <a:bodyPr wrap="square" lIns="0" tIns="0" rIns="0" bIns="0" rtlCol="0" anchor="ctr"/>
          <a:lstStyle/>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Enriquecer Datos: </a:t>
            </a:r>
            <a:r>
              <a:rPr lang="en-US" sz="1200" dirty="0">
                <a:solidFill>
                  <a:srgbClr val="D8D8D8"/>
                </a:solidFill>
                <a:latin typeface="Calibri" pitchFamily="34" charset="0"/>
                <a:ea typeface="Calibri" pitchFamily="34" charset="-122"/>
                <a:cs typeface="Calibri" pitchFamily="34" charset="-120"/>
              </a:rPr>
              <a:t>Incorporar transacciones históricas, quejas y datos de experiencia web/app.</a:t>
            </a:r>
            <a:endParaRPr lang="en-US" sz="1200" dirty="0"/>
          </a:p>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Despliegue Técnico: </a:t>
            </a:r>
            <a:r>
              <a:rPr lang="en-US" sz="1200" dirty="0">
                <a:solidFill>
                  <a:srgbClr val="D8D8D8"/>
                </a:solidFill>
                <a:latin typeface="Calibri" pitchFamily="34" charset="0"/>
                <a:ea typeface="Calibri" pitchFamily="34" charset="-122"/>
                <a:cs typeface="Calibri" pitchFamily="34" charset="-120"/>
              </a:rPr>
              <a:t>Exponer el modelo mediante una API REST en FastAPI integrada al CRM actual.</a:t>
            </a:r>
            <a:endParaRPr lang="en-US" sz="1200" dirty="0"/>
          </a:p>
          <a:p>
            <a:pPr marL="342900" indent="-342900">
              <a:spcAft>
                <a:spcPts val="1000"/>
              </a:spcAft>
              <a:buSzPct val="100000"/>
              <a:buChar char="•"/>
            </a:pPr>
            <a:r>
              <a:rPr lang="en-US" sz="1200" b="1" dirty="0">
                <a:solidFill>
                  <a:srgbClr val="FFFFFF"/>
                </a:solidFill>
                <a:latin typeface="Calibri" pitchFamily="34" charset="0"/>
                <a:ea typeface="Calibri" pitchFamily="34" charset="-122"/>
                <a:cs typeface="Calibri" pitchFamily="34" charset="-120"/>
              </a:rPr>
              <a:t>Monitoreo de Drift: </a:t>
            </a:r>
            <a:r>
              <a:rPr lang="en-US" sz="1200" dirty="0">
                <a:solidFill>
                  <a:srgbClr val="D8D8D8"/>
                </a:solidFill>
                <a:latin typeface="Calibri" pitchFamily="34" charset="0"/>
                <a:ea typeface="Calibri" pitchFamily="34" charset="-122"/>
                <a:cs typeface="Calibri" pitchFamily="34" charset="-120"/>
              </a:rPr>
              <a:t>Medición mensual automatizada del PSI; reentrenar modelo de superar 0.25.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903</Words>
  <Application>Microsoft Office PowerPoint</Application>
  <PresentationFormat>Panorámica</PresentationFormat>
  <Paragraphs>112</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Predicción de Churn - Clientes Bancarios</dc:title>
  <dc:subject>PptxGenJS Presentation</dc:subject>
  <dc:creator>Prueba Técnica</dc:creator>
  <cp:lastModifiedBy>Natalia Moreno Moreno</cp:lastModifiedBy>
  <cp:revision>2</cp:revision>
  <dcterms:created xsi:type="dcterms:W3CDTF">2026-07-06T00:53:30Z</dcterms:created>
  <dcterms:modified xsi:type="dcterms:W3CDTF">2026-07-06T00:59:55Z</dcterms:modified>
</cp:coreProperties>
</file>